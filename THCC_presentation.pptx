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3e8d0def534239" /><Relationship Type="http://schemas.openxmlformats.org/officeDocument/2006/relationships/extended-properties" Target="/docProps/app.xml" Id="R9a64a875db7d478a" /><Relationship Type="http://schemas.openxmlformats.org/officeDocument/2006/relationships/officeDocument" Target="/ppt/presentation.xml" Id="R0f48272c6dc147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df897d1f6d4b10"/>
  </p:sldMasterIdLst>
  <p:notesMasterIdLst>
    <p:notesMasterId xmlns:r="http://schemas.openxmlformats.org/officeDocument/2006/relationships" r:id="Rf3e61ab95d4a454a"/>
  </p:notesMasterIdLst>
  <p:sldIdLst>
    <p:sldId xmlns:r="http://schemas.openxmlformats.org/officeDocument/2006/relationships" id="256" r:id="R52dd03cadf3b4350"/>
    <p:sldId xmlns:r="http://schemas.openxmlformats.org/officeDocument/2006/relationships" id="257" r:id="R60afe0c27f704396"/>
    <p:sldId xmlns:r="http://schemas.openxmlformats.org/officeDocument/2006/relationships" id="258" r:id="Rab348265fe5b40f4"/>
    <p:sldId xmlns:r="http://schemas.openxmlformats.org/officeDocument/2006/relationships" id="259" r:id="R2d1f3c9ff7654ab4"/>
    <p:sldId xmlns:r="http://schemas.openxmlformats.org/officeDocument/2006/relationships" id="260" r:id="R5c93998c58f9409a"/>
    <p:sldId xmlns:r="http://schemas.openxmlformats.org/officeDocument/2006/relationships" id="261" r:id="Rf69a63bc86674372"/>
    <p:sldId xmlns:r="http://schemas.openxmlformats.org/officeDocument/2006/relationships" id="262" r:id="R8126990939a340cf"/>
    <p:sldId xmlns:r="http://schemas.openxmlformats.org/officeDocument/2006/relationships" id="263" r:id="R654569159c584108"/>
    <p:sldId xmlns:r="http://schemas.openxmlformats.org/officeDocument/2006/relationships" id="264" r:id="R7cbea0408adc418a"/>
    <p:sldId xmlns:r="http://schemas.openxmlformats.org/officeDocument/2006/relationships" id="265" r:id="R8f47234d8c684701"/>
    <p:sldId xmlns:r="http://schemas.openxmlformats.org/officeDocument/2006/relationships" id="266" r:id="R5b37f368fab64002"/>
    <p:sldId xmlns:r="http://schemas.openxmlformats.org/officeDocument/2006/relationships" id="267" r:id="Rcc306d5a2ba34126"/>
    <p:sldId xmlns:r="http://schemas.openxmlformats.org/officeDocument/2006/relationships" id="268" r:id="R07bfc36490c14fe4"/>
    <p:sldId xmlns:r="http://schemas.openxmlformats.org/officeDocument/2006/relationships" id="269" r:id="Re54c5650c2584e8b"/>
    <p:sldId xmlns:r="http://schemas.openxmlformats.org/officeDocument/2006/relationships" id="270" r:id="Rd949d7646def4d1d"/>
    <p:sldId xmlns:r="http://schemas.openxmlformats.org/officeDocument/2006/relationships" id="271" r:id="Rc6452e73c0cb4446"/>
    <p:sldId xmlns:r="http://schemas.openxmlformats.org/officeDocument/2006/relationships" id="272" r:id="R4cce241ede804b50"/>
    <p:sldId xmlns:r="http://schemas.openxmlformats.org/officeDocument/2006/relationships" id="273" r:id="Rae67fcddb3b94208"/>
    <p:sldId xmlns:r="http://schemas.openxmlformats.org/officeDocument/2006/relationships" id="274" r:id="R595c4f05a9e54e2d"/>
    <p:sldId xmlns:r="http://schemas.openxmlformats.org/officeDocument/2006/relationships" id="275" r:id="R7c2a3192df9d4f91"/>
    <p:sldId xmlns:r="http://schemas.openxmlformats.org/officeDocument/2006/relationships" id="276" r:id="R3f4dfe135e844cc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df897d1f6d4b10" /><Relationship Type="http://schemas.openxmlformats.org/officeDocument/2006/relationships/theme" Target="/ppt/theme/theme1.xml" Id="R1c076ebea292470c" /><Relationship Type="http://schemas.openxmlformats.org/officeDocument/2006/relationships/notesMaster" Target="/ppt/notesMasters/notesMaster1.xml" Id="Rf3e61ab95d4a454a" /><Relationship Type="http://schemas.openxmlformats.org/officeDocument/2006/relationships/presProps" Target="/ppt/presProps.xml" Id="R7e797917bd1d442e" /><Relationship Type="http://schemas.openxmlformats.org/officeDocument/2006/relationships/viewProps" Target="/ppt/viewProps.xml" Id="R5331d134988d4a82" /><Relationship Type="http://schemas.openxmlformats.org/officeDocument/2006/relationships/tableStyles" Target="/ppt/tableStyles.xml" Id="Raf43386b5fd443bf" /><Relationship Type="http://schemas.openxmlformats.org/officeDocument/2006/relationships/slide" Target="/ppt/slides/slide1.xml" Id="R52dd03cadf3b4350" /><Relationship Type="http://schemas.openxmlformats.org/officeDocument/2006/relationships/slide" Target="/ppt/slides/slide2.xml" Id="R60afe0c27f704396" /><Relationship Type="http://schemas.openxmlformats.org/officeDocument/2006/relationships/slide" Target="/ppt/slides/slide3.xml" Id="Rab348265fe5b40f4" /><Relationship Type="http://schemas.openxmlformats.org/officeDocument/2006/relationships/slide" Target="/ppt/slides/slide4.xml" Id="R2d1f3c9ff7654ab4" /><Relationship Type="http://schemas.openxmlformats.org/officeDocument/2006/relationships/slide" Target="/ppt/slides/slide5.xml" Id="R5c93998c58f9409a" /><Relationship Type="http://schemas.openxmlformats.org/officeDocument/2006/relationships/slide" Target="/ppt/slides/slide6.xml" Id="Rf69a63bc86674372" /><Relationship Type="http://schemas.openxmlformats.org/officeDocument/2006/relationships/slide" Target="/ppt/slides/slide7.xml" Id="R8126990939a340cf" /><Relationship Type="http://schemas.openxmlformats.org/officeDocument/2006/relationships/slide" Target="/ppt/slides/slide8.xml" Id="R654569159c584108" /><Relationship Type="http://schemas.openxmlformats.org/officeDocument/2006/relationships/slide" Target="/ppt/slides/slide9.xml" Id="R7cbea0408adc418a" /><Relationship Type="http://schemas.openxmlformats.org/officeDocument/2006/relationships/slide" Target="/ppt/slides/slide10.xml" Id="R8f47234d8c684701" /><Relationship Type="http://schemas.openxmlformats.org/officeDocument/2006/relationships/slide" Target="/ppt/slides/slide11.xml" Id="R5b37f368fab64002" /><Relationship Type="http://schemas.openxmlformats.org/officeDocument/2006/relationships/slide" Target="/ppt/slides/slide12.xml" Id="Rcc306d5a2ba34126" /><Relationship Type="http://schemas.openxmlformats.org/officeDocument/2006/relationships/slide" Target="/ppt/slides/slide13.xml" Id="R07bfc36490c14fe4" /><Relationship Type="http://schemas.openxmlformats.org/officeDocument/2006/relationships/slide" Target="/ppt/slides/slide14.xml" Id="Re54c5650c2584e8b" /><Relationship Type="http://schemas.openxmlformats.org/officeDocument/2006/relationships/slide" Target="/ppt/slides/slide15.xml" Id="Rd949d7646def4d1d" /><Relationship Type="http://schemas.openxmlformats.org/officeDocument/2006/relationships/slide" Target="/ppt/slides/slide16.xml" Id="Rc6452e73c0cb4446" /><Relationship Type="http://schemas.openxmlformats.org/officeDocument/2006/relationships/slide" Target="/ppt/slides/slide17.xml" Id="R4cce241ede804b50" /><Relationship Type="http://schemas.openxmlformats.org/officeDocument/2006/relationships/slide" Target="/ppt/slides/slide18.xml" Id="Rae67fcddb3b94208" /><Relationship Type="http://schemas.openxmlformats.org/officeDocument/2006/relationships/slide" Target="/ppt/slides/slide19.xml" Id="R595c4f05a9e54e2d" /><Relationship Type="http://schemas.openxmlformats.org/officeDocument/2006/relationships/slide" Target="/ppt/slides/slide20.xml" Id="R7c2a3192df9d4f91" /><Relationship Type="http://schemas.openxmlformats.org/officeDocument/2006/relationships/slide" Target="/ppt/slides/slide21.xml" Id="R3f4dfe135e844c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1aaffede1ac42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91e959db0e74564" /><Relationship Type="http://schemas.openxmlformats.org/officeDocument/2006/relationships/notesMaster" Target="/ppt/notesMasters/notesMaster1.xml" Id="R9f1f234b7f164d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fca2af328647b3" /><Relationship Type="http://schemas.openxmlformats.org/officeDocument/2006/relationships/notesMaster" Target="/ppt/notesMasters/notesMaster1.xml" Id="R9d205032401b495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3cb83789ab4078" /><Relationship Type="http://schemas.openxmlformats.org/officeDocument/2006/relationships/notesMaster" Target="/ppt/notesMasters/notesMaster1.xml" Id="Rbd8239d210344d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38bf6688ff4acd" /><Relationship Type="http://schemas.openxmlformats.org/officeDocument/2006/relationships/notesMaster" Target="/ppt/notesMasters/notesMaster1.xml" Id="Re00a935372074f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f9295892b34bd3" /><Relationship Type="http://schemas.openxmlformats.org/officeDocument/2006/relationships/notesMaster" Target="/ppt/notesMasters/notesMaster1.xml" Id="R77c49a454e7249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4cf06b57984c0b" /><Relationship Type="http://schemas.openxmlformats.org/officeDocument/2006/relationships/notesMaster" Target="/ppt/notesMasters/notesMaster1.xml" Id="R427ccb55063f44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a88d06047094d95" /><Relationship Type="http://schemas.openxmlformats.org/officeDocument/2006/relationships/notesMaster" Target="/ppt/notesMasters/notesMaster1.xml" Id="R03a73d9ceeb140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2a327d99554265" /><Relationship Type="http://schemas.openxmlformats.org/officeDocument/2006/relationships/notesMaster" Target="/ppt/notesMasters/notesMaster1.xml" Id="R6181692f73ff44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7ed96cb5a44f0f" /><Relationship Type="http://schemas.openxmlformats.org/officeDocument/2006/relationships/notesMaster" Target="/ppt/notesMasters/notesMaster1.xml" Id="Ra4d0773d365146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968375d837440a5" /><Relationship Type="http://schemas.openxmlformats.org/officeDocument/2006/relationships/notesMaster" Target="/ppt/notesMasters/notesMaster1.xml" Id="R9b7eb3e337fa4e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c23e2dd2481456d" /><Relationship Type="http://schemas.openxmlformats.org/officeDocument/2006/relationships/notesMaster" Target="/ppt/notesMasters/notesMaster1.xml" Id="Rd8321d7e699848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c6334a5a3a4478e" /><Relationship Type="http://schemas.openxmlformats.org/officeDocument/2006/relationships/notesMaster" Target="/ppt/notesMasters/notesMaster1.xml" Id="R4e36f6f8f37e44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6004013621149d9" /><Relationship Type="http://schemas.openxmlformats.org/officeDocument/2006/relationships/notesMaster" Target="/ppt/notesMasters/notesMaster1.xml" Id="Rdfbc81fd16f345e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6920df1c274a7f" /><Relationship Type="http://schemas.openxmlformats.org/officeDocument/2006/relationships/notesMaster" Target="/ppt/notesMasters/notesMaster1.xml" Id="Red94c6194a3a4c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59bccc2f1174d5b" /><Relationship Type="http://schemas.openxmlformats.org/officeDocument/2006/relationships/notesMaster" Target="/ppt/notesMasters/notesMaster1.xml" Id="Rf3323c3544764ea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4a24abfc6c24a9a" /><Relationship Type="http://schemas.openxmlformats.org/officeDocument/2006/relationships/notesMaster" Target="/ppt/notesMasters/notesMaster1.xml" Id="R2550b6ffd5624c1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d1b726d78874daa" /><Relationship Type="http://schemas.openxmlformats.org/officeDocument/2006/relationships/notesMaster" Target="/ppt/notesMasters/notesMaster1.xml" Id="Rbc3356eb819e4c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1232b399e94aef" /><Relationship Type="http://schemas.openxmlformats.org/officeDocument/2006/relationships/notesMaster" Target="/ppt/notesMasters/notesMaster1.xml" Id="R5004c2aed69049b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c57ea8ad8f84afc" /><Relationship Type="http://schemas.openxmlformats.org/officeDocument/2006/relationships/notesMaster" Target="/ppt/notesMasters/notesMaster1.xml" Id="R83d153b627d94a8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073c2e9d74840f4" /><Relationship Type="http://schemas.openxmlformats.org/officeDocument/2006/relationships/notesMaster" Target="/ppt/notesMasters/notesMaster1.xml" Id="R4a83ff4625e24eb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f63a58b4d804642" /><Relationship Type="http://schemas.openxmlformats.org/officeDocument/2006/relationships/notesMaster" Target="/ppt/notesMasters/notesMaster1.xml" Id="R5d40914a623446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398e29f2004dce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9EB892EC-6CF9-4315-8080-C11C609B71FC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C96B7FD7-2C0E-42CE-B203-DB7D52EC349D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93B5D9-5E70-4AC8-AE18-1C3B59C1FF5E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3E2ED2-986A-4938-B17B-ABF8AA5BDCE0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2183cb975d544a2" /><Relationship Type="http://schemas.openxmlformats.org/officeDocument/2006/relationships/slideLayout" Target="/ppt/slideLayouts/slideLayout2.xml" Id="Ra18774e1823c4c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4F685B-C85F-46D7-A23B-A7CEC6C1FC80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8774e1823c4c1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460d90337b43c9" /><Relationship Type="http://schemas.openxmlformats.org/officeDocument/2006/relationships/notesSlide" Target="/ppt/notesSlides/notesSlide1.xml" Id="Radebd40890c446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c479fcfc93420b" /><Relationship Type="http://schemas.openxmlformats.org/officeDocument/2006/relationships/notesSlide" Target="/ppt/notesSlides/notesSlide2.xml" Id="Rd1b45453fb844c2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bc9e4a9b1a409f" /><Relationship Type="http://schemas.openxmlformats.org/officeDocument/2006/relationships/notesSlide" Target="/ppt/notesSlides/notesSlide3.xml" Id="Raa20f8afd86f4dc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e1c5bc7b234847" /><Relationship Type="http://schemas.openxmlformats.org/officeDocument/2006/relationships/notesSlide" Target="/ppt/notesSlides/notesSlide4.xml" Id="Ree9d75a5846741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2c9f6f375a46be" /><Relationship Type="http://schemas.openxmlformats.org/officeDocument/2006/relationships/notesSlide" Target="/ppt/notesSlides/notesSlide5.xml" Id="R3a9d46bc33044f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47097697894ff7" /><Relationship Type="http://schemas.openxmlformats.org/officeDocument/2006/relationships/notesSlide" Target="/ppt/notesSlides/notesSlide6.xml" Id="Rdd265003ebd54e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e71e0ba12f4244" /><Relationship Type="http://schemas.openxmlformats.org/officeDocument/2006/relationships/notesSlide" Target="/ppt/notesSlides/notesSlide7.xml" Id="Ra7252d85cc7743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75ada76bc874cd2" /><Relationship Type="http://schemas.openxmlformats.org/officeDocument/2006/relationships/notesSlide" Target="/ppt/notesSlides/notesSlide8.xml" Id="Rdf05bce5472a48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eb754fafeb438f" /><Relationship Type="http://schemas.openxmlformats.org/officeDocument/2006/relationships/notesSlide" Target="/ppt/notesSlides/notesSlide9.xml" Id="Rfd0dd6eb37a7468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3b550756244595" /><Relationship Type="http://schemas.openxmlformats.org/officeDocument/2006/relationships/notesSlide" Target="/ppt/notesSlides/notesSlide10.xml" Id="R47b5f927445f45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d1b14ed4c34a51" /><Relationship Type="http://schemas.openxmlformats.org/officeDocument/2006/relationships/notesSlide" Target="/ppt/notesSlides/notesSlide11.xml" Id="Rf6297aa99dde49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d09fbb566a41c3" /><Relationship Type="http://schemas.openxmlformats.org/officeDocument/2006/relationships/notesSlide" Target="/ppt/notesSlides/notesSlide12.xml" Id="R49d8d604278d4c2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2f2a36ea094ecd" /><Relationship Type="http://schemas.openxmlformats.org/officeDocument/2006/relationships/notesSlide" Target="/ppt/notesSlides/notesSlide13.xml" Id="R2d83fb2b9a2748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d7b6274508544eb" /><Relationship Type="http://schemas.openxmlformats.org/officeDocument/2006/relationships/notesSlide" Target="/ppt/notesSlides/notesSlide14.xml" Id="R2e93f41932a341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58b7582de154de8" /><Relationship Type="http://schemas.openxmlformats.org/officeDocument/2006/relationships/notesSlide" Target="/ppt/notesSlides/notesSlide15.xml" Id="Rd8f371956ef047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ede58d2f245b8" /><Relationship Type="http://schemas.openxmlformats.org/officeDocument/2006/relationships/notesSlide" Target="/ppt/notesSlides/notesSlide16.xml" Id="R9fa7fccbf490450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7bf18629694038" /><Relationship Type="http://schemas.openxmlformats.org/officeDocument/2006/relationships/notesSlide" Target="/ppt/notesSlides/notesSlide17.xml" Id="R9b147cb807814af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5f77b779774367" /><Relationship Type="http://schemas.openxmlformats.org/officeDocument/2006/relationships/notesSlide" Target="/ppt/notesSlides/notesSlide18.xml" Id="R0c8db74f5d20422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b684a61ac84fcd" /><Relationship Type="http://schemas.openxmlformats.org/officeDocument/2006/relationships/notesSlide" Target="/ppt/notesSlides/notesSlide19.xml" Id="R2e47630d710b484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d62629773a4077" /><Relationship Type="http://schemas.openxmlformats.org/officeDocument/2006/relationships/notesSlide" Target="/ppt/notesSlides/notesSlide20.xml" Id="R704456a0e4014d6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d951bb4a1340c5" /><Relationship Type="http://schemas.openxmlformats.org/officeDocument/2006/relationships/notesSlide" Target="/ppt/notesSlides/notesSlide21.xml" Id="Ra4d91d81dfdb42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9B770-BC85-4647-85AA-E2AEE868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194560"/>
            <a:ext cx="12192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0" b="1" i="0">
                <a:solidFill>
                  <a:srgbClr val="1A1A1A"/>
                </a:solidFill>
              </a:defRPr>
            </a:pPr>
            <a:r>
              <a:rPr sz="13500" b="1" i="0">
                <a:solidFill>
                  <a:srgbClr val="1A1A1A"/>
                </a:solidFill>
              </a:rPr>
              <a:t>2 + 2 = 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88F326-0FE1-4FA7-964C-F080CA11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46320"/>
            <a:ext cx="121920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C4422E"/>
                </a:solidFill>
              </a:defRPr>
            </a:pPr>
            <a:r>
              <a:rPr sz="2100" b="1" i="0">
                <a:solidFill>
                  <a:srgbClr val="C4422E"/>
                </a:solidFill>
              </a:rPr>
              <a:t>ALU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AECB2A-D213-4231-AD25-6316B13F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49240"/>
            <a:ext cx="121920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 i="1">
                <a:solidFill>
                  <a:srgbClr val="6B6B6B"/>
                </a:solidFill>
              </a:defRPr>
            </a:pPr>
            <a:r>
              <a:rPr sz="1200" b="0" i="1">
                <a:solidFill>
                  <a:srgbClr val="6B6B6B"/>
                </a:solidFill>
              </a:rPr>
              <a:t>(arithmetic logic unit)</a:t>
            </a:r>
          </a:p>
        </p:txBody>
      </p:sp>
    </p:spTree>
    <p:extLst>
      <p:ext uri="{BB962C8B-B14F-4D97-AF65-F5344CB8AC3E}">
        <p14:creationId xmlns:p14="http://schemas.microsoft.com/office/powerpoint/2010/main" val="19641737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55909-D2D0-4B09-9542-B5A66CB5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ALU +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28F2F0-5471-4F69-B303-22449E9F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97280"/>
            <a:ext cx="1219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200" b="1" i="0">
                <a:solidFill>
                  <a:srgbClr val="1A1A1A"/>
                </a:solidFill>
              </a:defRPr>
            </a:pPr>
            <a:r>
              <a:rPr sz="4200" b="1" i="0">
                <a:solidFill>
                  <a:srgbClr val="1A1A1A"/>
                </a:solidFill>
              </a:rPr>
              <a:t>(5 + 3)  x  (7 + 2)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83D4C-7392-48FE-AAED-4486AADB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43200"/>
            <a:ext cx="2743200" cy="2560320"/>
          </a:xfrm>
          <a:prstGeom xmlns:a="http://schemas.openxmlformats.org/drawingml/2006/main" prst="roundRect">
            <a:avLst>
              <a:gd name="adj" fmla="val 2976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3BC60-FF0F-4EC2-BC71-97C82F31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926080"/>
            <a:ext cx="27432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calculator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30D4FD-852A-4B61-B699-D78783837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66160"/>
            <a:ext cx="914400" cy="54864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28A0B-668C-4AB5-8D66-569B8DAA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3566160"/>
            <a:ext cx="9144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M+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8A6B4-FC0F-4F16-93C7-0963F0C1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66160"/>
            <a:ext cx="914400" cy="54864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92B9AD-4C4F-40BE-89EA-E4A4DF94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66160"/>
            <a:ext cx="914400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</a:defRPr>
            </a:pPr>
            <a:r>
              <a:rPr sz="1500" b="1" i="0">
                <a:solidFill>
                  <a:srgbClr val="FFFFFF"/>
                </a:solidFill>
              </a:rPr>
              <a:t>MR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269E25-5AE0-4EB4-B906-2BFF22D3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389120"/>
            <a:ext cx="2194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0F754B-7267-4043-BEFE-03637924F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4389120"/>
            <a:ext cx="219456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A1A1A"/>
                </a:solidFill>
              </a:defRPr>
            </a:pPr>
            <a:r>
              <a:rPr sz="2100" b="1" i="0">
                <a:solidFill>
                  <a:srgbClr val="1A1A1A"/>
                </a:solidFill>
              </a:rPr>
              <a:t>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0D368C-744F-4B11-AC5B-CB1B2BBC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394960" y="4011454"/>
            <a:ext cx="228600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AD810D-6994-41AE-BF20-DCA59EE14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585710" y="392811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96E197-EB4F-405A-8A11-7433FDE5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0" y="3566160"/>
            <a:ext cx="1828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stash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346ADA-6630-4E16-9DF5-E54EED5A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3474720"/>
            <a:ext cx="201168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310A3-DAAB-47A5-B749-C4D2382A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3566160"/>
            <a:ext cx="20116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memory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BD8CCC-072F-455B-AAF4-F54DDD26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3931920"/>
            <a:ext cx="201168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1A1A1A"/>
                </a:solidFill>
              </a:defRPr>
            </a:pPr>
            <a:r>
              <a:rPr sz="3300" b="1" i="0">
                <a:solidFill>
                  <a:srgbClr val="1A1A1A"/>
                </a:solidFill>
              </a:rPr>
              <a:t>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26B66F-F310-4AE1-A4D3-8E2418F3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stash an intermediate, recall it later - already half a CPU</a:t>
            </a:r>
          </a:p>
        </p:txBody>
      </p:sp>
    </p:spTree>
    <p:extLst>
      <p:ext uri="{BB962C8B-B14F-4D97-AF65-F5344CB8AC3E}">
        <p14:creationId xmlns:p14="http://schemas.microsoft.com/office/powerpoint/2010/main" val="3223429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8B02EE-7887-41C7-8BFD-E7C0C4A2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WHAT MAKES A CPU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65056-95F0-44D4-8F00-7F2F0EDC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0743-F50E-4F18-AFCF-63E3F1D4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Program</a:t>
            </a:r>
          </a:p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E285F-0415-4AC2-BA7C-7093E991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2880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88A845-7634-47A4-92B5-391E44A8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82880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Program</a:t>
            </a:r>
          </a:p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counter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FD834-66D2-4900-87FA-6FA696A9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2880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ACB61F-6881-4E10-9E99-0C2E6310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2880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Decoder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9D161-7D1D-4816-8AF1-EF6DDB1C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2880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98033-1503-44CE-91B1-DEF38EA9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2880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Clock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928F99-8988-4764-B1BF-CCEFCCB9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2336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6BB678-E3F5-4B73-B83C-CD4167A2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402336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ALU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59E5D-312E-450A-9B4E-34B74939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23360"/>
            <a:ext cx="219456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2437C-D615-4161-AF52-C7D7A7FF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23360"/>
            <a:ext cx="219456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RAM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2C7977-765B-4502-B7E6-7D6CB012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17520" y="2456974"/>
            <a:ext cx="36576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D6DA78-3255-4034-8137-9F4A96BD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3288030" y="23736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3670F3-01C8-42C6-9B12-BA897167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7840" y="2456974"/>
            <a:ext cx="36576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A31F47-7C2E-4D0E-BAA5-C67CC67B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48350" y="23736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D4C345-FCE9-4A84-BFEE-EFC72257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333363">
            <a:off x="4930166" y="3554254"/>
            <a:ext cx="2209747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495026-16A5-4006-AC94-0392FF071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4733363">
            <a:off x="4933950" y="392811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29B94E-D755-4234-AE5C-5A8AC66EA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77840" y="4651534"/>
            <a:ext cx="36576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564411-B8B8-47B0-A65B-0A9DDE53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48350" y="456819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4E24F7-08C9-4CBD-951A-16868E264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577840" y="2456974"/>
            <a:ext cx="29260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D3E30F-D451-4AA2-88B0-7DF454B3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5482590" y="23736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1F7C11-EE45-4577-BADA-3F251638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EBDF77-BB60-4191-BFF2-E41FAB7C4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fetch  -&gt;  decode  -&gt;  execute  -&gt;  advance</a:t>
            </a:r>
          </a:p>
        </p:txBody>
      </p:sp>
    </p:spTree>
    <p:extLst>
      <p:ext uri="{BB962C8B-B14F-4D97-AF65-F5344CB8AC3E}">
        <p14:creationId xmlns:p14="http://schemas.microsoft.com/office/powerpoint/2010/main" val="17845829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A0FFE-BB76-44D8-94BE-288F35F4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THE VON NEUMANN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7260F4-7319-4428-AC55-B0CF0889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828800"/>
            <a:ext cx="594360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B8AFC-2FB5-42C1-9DF6-E7436B7E4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65960"/>
            <a:ext cx="59436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MEMORY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75B5BC-300B-40F3-AC9B-AE3C079B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560320"/>
            <a:ext cx="53949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89C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222D7-EC61-47F8-89F0-6A4995E1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560320"/>
            <a:ext cx="53949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A1A1A"/>
                </a:solidFill>
              </a:defRPr>
            </a:pPr>
            <a:r>
              <a:rPr sz="2100" b="1" i="0">
                <a:solidFill>
                  <a:srgbClr val="1A1A1A"/>
                </a:solidFill>
              </a:rPr>
              <a:t>program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B9DB6-030A-4CB6-B292-760490F1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749040"/>
            <a:ext cx="53949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02D94-A3C1-43EF-B1B7-669FDC3B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749040"/>
            <a:ext cx="5394960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A1A1A"/>
                </a:solidFill>
              </a:defRPr>
            </a:pPr>
            <a:r>
              <a:rPr sz="2100" b="1" i="0">
                <a:solidFill>
                  <a:srgbClr val="1A1A1A"/>
                </a:solidFill>
              </a:rPr>
              <a:t>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EEDBF6-330A-4E97-B19F-0A55B3A9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26080"/>
            <a:ext cx="2560320" cy="1280160"/>
          </a:xfrm>
          <a:prstGeom xmlns:a="http://schemas.openxmlformats.org/drawingml/2006/main" prst="roundRect">
            <a:avLst>
              <a:gd name="adj" fmla="val 5952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327FB-9A4F-47A2-9074-13F18533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26080"/>
            <a:ext cx="2560320" cy="1280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FFFFFF"/>
                </a:solidFill>
              </a:defRPr>
            </a:pPr>
            <a:r>
              <a:rPr sz="2700" b="1" i="0">
                <a:solidFill>
                  <a:srgbClr val="FFFFFF"/>
                </a:solidFill>
              </a:rPr>
              <a:t>CPU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46A38-8396-45ED-92D4-1DCA7E0D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74430">
            <a:off x="7032980" y="3162657"/>
            <a:ext cx="1661719" cy="29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E5D5A9-26EF-479C-8B44-C3945396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874430">
            <a:off x="8586788" y="3191828"/>
            <a:ext cx="200025" cy="200025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2A3B4-D49F-4639-9EB9-7D10EFE0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468880"/>
            <a:ext cx="20116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reads its own instructions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0EC863-14B9-4B02-939E-F158912D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42175">
            <a:off x="7015552" y="4034314"/>
            <a:ext cx="1696576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ED60C1-E7B3-451D-A2ED-F31BE50A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4557825">
            <a:off x="8591550" y="37452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344F84-501D-4E7B-B477-8BB52249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one memory. programs and data both live there.</a:t>
            </a:r>
          </a:p>
        </p:txBody>
      </p:sp>
    </p:spTree>
    <p:extLst>
      <p:ext uri="{BB962C8B-B14F-4D97-AF65-F5344CB8AC3E}">
        <p14:creationId xmlns:p14="http://schemas.microsoft.com/office/powerpoint/2010/main" val="16605960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828D54-E75F-4767-A82B-16BF6145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TODAY: EVERY 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9DF7F-5FEB-4C0D-8002-D36420E4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28016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CF222-98FE-487A-80DF-D2A2213B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28016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caesar.thcc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2313E-9969-4B86-812D-20F41792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C8E87C-4EA0-45CF-BFE4-2621684A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1168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parse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5E752-25C3-47B9-A13C-A087320F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213693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B67A7-5518-414D-B14A-0B9D8654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21450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220A2-C428-4D4A-A3FA-6BC177BC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24028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B52B51-A09E-46C0-ACF7-157ACE4A4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E9D57-D014-44E2-8AFE-BFA2EA73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4028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tree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E7EE9-F465-4867-9A6D-5D818EE4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97180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codegen + link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B4DF61-DDF2-41EC-B24F-2FCD42FC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309705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50570A-6F9C-48CB-9AA0-57AB60E6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310515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48D646-A52C-47E3-9567-684CDD840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20040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1AAB1A-6854-4DA5-87A2-95DF93A1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20040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.asm  /  .hex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3D95C0-C103-47DD-B702-B0E6D1A4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20040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machine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2FE13-7ED3-40C2-91D6-8DDD48FD2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93192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load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95B7AB-4253-44FC-BA4F-6274B808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405717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7D74B-2E97-4B71-B969-B300B244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406527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CA3026-5F17-41B6-BBAF-15BE37B9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16052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DA0BB0-7E59-4553-B8E2-AF3FEA3D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16052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THMM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58C3B6-9168-4057-B3D1-B1F3DD9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16052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hardware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EC9449-6E17-4130-80DF-09AE4A82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89204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run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D2AB43-DA49-4EA2-A088-78C5D0A0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501729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818352-283E-484A-A327-E5A2C839D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502539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F9927-6711-4CD8-A201-A9194303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12064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422783-B3EC-4B1D-A1C2-D9528A1D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12064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RAM cells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8FC32E-A0D6-4C44-9E91-64467992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12064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554F78-7EB3-4867-B2FC-21B092F3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human-readable code  -&gt;  electrons (well, simulated)</a:t>
            </a:r>
          </a:p>
        </p:txBody>
      </p:sp>
    </p:spTree>
    <p:extLst>
      <p:ext uri="{BB962C8B-B14F-4D97-AF65-F5344CB8AC3E}">
        <p14:creationId xmlns:p14="http://schemas.microsoft.com/office/powerpoint/2010/main" val="11974322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414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BD42F-9A32-4245-9BBA-28F0FC2D9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48640"/>
            <a:ext cx="12192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B6B6B"/>
                </a:solidFill>
              </a:defRPr>
            </a:pPr>
            <a:r>
              <a:rPr sz="1350" b="1" i="0">
                <a:solidFill>
                  <a:srgbClr val="6B6B6B"/>
                </a:solidFill>
              </a:rPr>
              <a:t>BY THE END, THIS CPU WILL READ THIS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E93BB-4D93-4BC6-AAE8-0FA92A9A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0"/>
            <a:ext cx="1219200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0" b="1" i="0">
                <a:solidFill>
                  <a:srgbClr val="FFE89C"/>
                </a:solidFill>
              </a:defRPr>
            </a:pPr>
            <a:r>
              <a:rPr sz="9000" b="1" i="0">
                <a:solidFill>
                  <a:srgbClr val="FFE89C"/>
                </a:solidFill>
              </a:rPr>
              <a:t>JCJUM JS DCAFE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46C4AB-BFEA-4005-ABDA-2461C3EC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5102352"/>
            <a:ext cx="914400" cy="566928"/>
          </a:xfrm>
          <a:prstGeom xmlns:a="http://schemas.openxmlformats.org/drawingml/2006/main" prst="roundRect">
            <a:avLst>
              <a:gd name="adj" fmla="val 13441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4F8C6D-6463-4AD6-A109-204BBE57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4736592"/>
            <a:ext cx="548640" cy="502920"/>
          </a:xfrm>
          <a:prstGeom xmlns:a="http://schemas.openxmlformats.org/drawingml/2006/main" prst="roundRect">
            <a:avLst>
              <a:gd name="adj" fmla="val 15152"/>
            </a:avLst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76200">
            <a:solidFill>
              <a:srgbClr val="C4422E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438933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D5470-796C-451F-BF6C-6439CEF3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MEET THMM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A2683-A6E4-409B-A951-99831720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371600"/>
            <a:ext cx="4754880" cy="4023360"/>
          </a:xfrm>
          <a:prstGeom xmlns:a="http://schemas.openxmlformats.org/drawingml/2006/main" prst="roundRect">
            <a:avLst>
              <a:gd name="adj" fmla="val 18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0DE37-9E48-46FB-8E11-91ADA78D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08760"/>
            <a:ext cx="475488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6B6B6B"/>
                </a:solidFill>
              </a:defRPr>
            </a:pPr>
            <a:r>
              <a:rPr sz="1500" b="1" i="0">
                <a:solidFill>
                  <a:srgbClr val="6B6B6B"/>
                </a:solidFill>
              </a:rPr>
              <a:t>THMM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81DA2-D115-4B04-969B-3DF0FFC32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286000"/>
            <a:ext cx="18288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027D6E-4A8C-4034-81AF-C22C91D6E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286000"/>
            <a:ext cx="1828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ACC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8C936F-267D-4645-AEF4-E1C8FBD1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86000"/>
            <a:ext cx="18288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0F5A24-0F63-4472-864E-0849B2C7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286000"/>
            <a:ext cx="18288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ALU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6D4AB4-6F64-47A3-B441-4AE1D968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657600"/>
            <a:ext cx="384048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DE3887-894B-41FA-8C8F-218DEB4A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657600"/>
            <a:ext cx="38404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RAM[256]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9B8319-1E82-4E9E-9B4D-38FA9CD4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05F21-71BD-4AB2-868D-62613AB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332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206A90-65B3-4BE9-BC87-5CFF7E6D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504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D826BB-779B-4BFB-A925-BEFCD340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9676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4B319D-5352-4A40-BEFE-B725FEC2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2848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08F250-8725-4C95-B501-8148C4BF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020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140033-53D5-482C-B047-FCF24693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192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5E3D75-1A45-4AF5-872D-A3CA06BE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2364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938B94-77E8-43B2-8910-AEBD193F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5536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3AF0A2-7B4F-4C7D-9A03-6778A954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8708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4592FB-E869-4358-AF69-935EADBE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07A2B5-2FAA-47A4-A9FB-6D2FA3EC9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052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51DDA5-9002-43B9-8B5B-AD3ECD31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DD568E-0B8C-4E4B-9134-05AEBB8D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4FDE59-B320-4D2C-B263-8FDE03B0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F0B3A5-3C97-4D2E-9460-490A7435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7740" y="4114800"/>
            <a:ext cx="210312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4D0BAA-BDFE-4B2A-858C-E43D5258F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371600"/>
            <a:ext cx="5029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B6B6B"/>
                </a:solidFill>
              </a:defRPr>
            </a:pPr>
            <a:r>
              <a:rPr sz="1350" b="1" i="0">
                <a:solidFill>
                  <a:srgbClr val="6B6B6B"/>
                </a:solidFill>
              </a:rPr>
              <a:t>9 instructions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BA345-6DDE-4D34-86DE-66855240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20240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loadm  addr     load mem -&gt; acc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1B69EF-7217-4BFC-A124-63F86E80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04288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loadn  imm      load literal -&gt; acc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61875A-4372-45A5-BE06-F85BAFD96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88336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store  addr     acc -&gt; mem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33BADB-C024-4BBE-B19F-E4098867A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72384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addm   addr     acc += mem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A6747E-37B2-4A7B-B2E3-EA0D49CD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56432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addn   imm      acc += literal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E0E994-07D5-4CD5-99FF-EE3D429E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40480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subm   addr     acc -= mem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0E0191-A945-41EF-A53D-205A6F37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4528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mulm   addr     acc *= mem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A03334-C4C1-40D0-8225-1F89126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08576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divm   addr     acc /= mem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6C1FB41-7D2C-4B09-8ED3-AE152FE27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92624"/>
            <a:ext cx="5212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halt            stop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2764EF-B332-447E-A12B-93621658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37ACDE-102B-49FE-8DB0-9210E031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52160"/>
            <a:ext cx="1106424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16-bit  *  256 cells  *  9 instructions  *  ~200 lines of Python</a:t>
            </a:r>
          </a:p>
        </p:txBody>
      </p:sp>
    </p:spTree>
    <p:extLst>
      <p:ext uri="{BB962C8B-B14F-4D97-AF65-F5344CB8AC3E}">
        <p14:creationId xmlns:p14="http://schemas.microsoft.com/office/powerpoint/2010/main" val="13715548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C1984D-3310-482B-9E56-345A061E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THE EASY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39878A-049D-45B3-AF84-FCB03C6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0"/>
            <a:ext cx="1219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 i="0">
                <a:solidFill>
                  <a:srgbClr val="1A1A1A"/>
                </a:solidFill>
              </a:defRPr>
            </a:pPr>
            <a:r>
              <a:rPr sz="5400" b="1" i="0">
                <a:solidFill>
                  <a:srgbClr val="1A1A1A"/>
                </a:solidFill>
              </a:rPr>
              <a:t>c  =  a +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83E8C-8AF5-4D6B-8231-62DADDDE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67400" y="2222421"/>
            <a:ext cx="45720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1E6BB5-A03E-4EC2-8C0D-403A77CE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991225" y="2364105"/>
            <a:ext cx="2095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4D92B5-31FC-43C5-AD85-1A51EB9C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743200"/>
            <a:ext cx="4114800" cy="21031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38DE9-0EE1-466A-961B-E958D0E4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852928"/>
            <a:ext cx="378561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loadm  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45756-48D6-41CD-9677-1CBE305B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243072"/>
            <a:ext cx="378561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addm  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239972-F565-4F7C-A0B6-8360A849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633216"/>
            <a:ext cx="378561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store  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FD631-FAF6-45DA-BABB-3497B35E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68880"/>
            <a:ext cx="34747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accumulator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AC4B49-9F39-4C15-8921-E03CDA04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4AB8C9-869B-4AF7-9A59-A2FC519D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A70E75-3858-483B-B87F-0F057535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61188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start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734E5-9A70-45EA-8C59-F4582625F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03920" y="3234214"/>
            <a:ext cx="27432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35F1B2-4BCA-4CCD-933B-2D749AB6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682990" y="315087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A2362-A90B-4BD0-BE5C-E2895E03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DFF55-5D68-4FE9-9291-1483540F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88047A-D42B-4239-804F-2CE11F85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361188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loadm 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055448-2AFC-4021-B8D9-79959275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966960" y="3234214"/>
            <a:ext cx="27432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B1CCB-442F-42D8-A91D-3A6B553AB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0146030" y="315087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82106B-E1AC-450B-A488-DC42473F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46976B-F32D-4924-84A8-DBFA8F10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a+b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15D798-3FD6-4A28-9EB9-3F1DA387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361188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addm 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2A0BA3-57C6-4AC9-AC73-06664ACE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every expression's code leaves its value in the accumulator</a:t>
            </a:r>
          </a:p>
        </p:txBody>
      </p:sp>
    </p:spTree>
    <p:extLst>
      <p:ext uri="{BB962C8B-B14F-4D97-AF65-F5344CB8AC3E}">
        <p14:creationId xmlns:p14="http://schemas.microsoft.com/office/powerpoint/2010/main" val="10572062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658314-C5A8-4C08-B36F-DF0AE44A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THE PAIN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C7F73-7F5D-44DE-ACB7-9737B1E6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14400"/>
            <a:ext cx="12192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1A1A1A"/>
                </a:solidFill>
              </a:defRPr>
            </a:pPr>
            <a:r>
              <a:rPr sz="4800" b="1" i="0">
                <a:solidFill>
                  <a:srgbClr val="1A1A1A"/>
                </a:solidFill>
              </a:rPr>
              <a:t>(a + b)  x  (c + d)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87B890-8514-4680-84D6-E946FF35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03120"/>
            <a:ext cx="4846320" cy="3474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D0C6F9-911A-4C04-AA7D-D0C2F47C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212848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loadm 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48ADC-71A2-4CA6-AABF-BB7A3597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481072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addm   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0179D9-D0FF-4225-81B9-7FB4CFE7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749296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4422E"/>
                </a:solidFill>
              </a:defRPr>
            </a:pPr>
            <a:r>
              <a:rPr sz="1650" b="1" i="0">
                <a:solidFill>
                  <a:srgbClr val="C4422E"/>
                </a:solidFill>
              </a:rPr>
              <a:t>store  t0     &lt;- stash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418D29-DDE9-4CD1-B10F-7326D012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3017520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loadm  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A6AD3-5F94-4D58-8AC1-75C7AE56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3285744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addm   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D5446-7C94-4962-BBD4-67A1313E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3553968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4422E"/>
                </a:solidFill>
              </a:defRPr>
            </a:pPr>
            <a:r>
              <a:rPr sz="1650" b="1" i="0">
                <a:solidFill>
                  <a:srgbClr val="C4422E"/>
                </a:solidFill>
              </a:rPr>
              <a:t>store  t1     &lt;- stash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294CC0-3804-4910-A9D4-5F45615F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3822192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4422E"/>
                </a:solidFill>
              </a:defRPr>
            </a:pPr>
            <a:r>
              <a:rPr sz="1650" b="1" i="0">
                <a:solidFill>
                  <a:srgbClr val="C4422E"/>
                </a:solidFill>
              </a:rPr>
              <a:t>loadm  t0     &lt;- reload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B2D6B-D4B3-4EEA-97FC-67C817EF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4090416"/>
            <a:ext cx="451713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mulm   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137CCB-FB86-4C43-AB9A-434FDA0C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920240"/>
            <a:ext cx="36576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memory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E222DB-A94D-4192-AECC-6705A0DF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2860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B2737A-0FCC-4571-A101-8CBE8434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2860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A1A1A"/>
                </a:solidFill>
              </a:defRPr>
            </a:pPr>
            <a:r>
              <a:rPr sz="1500" b="1" i="0">
                <a:solidFill>
                  <a:srgbClr val="1A1A1A"/>
                </a:solidFill>
              </a:rPr>
              <a:t>acc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7D5CE0-8CE9-4FED-A707-9CB7A447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286000"/>
            <a:ext cx="27432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a+b -&gt; ... -&gt; answer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46973F-213C-4C0C-AD7F-FD80BC17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004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89C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6BAFC2-091E-4031-93ED-8C9732E9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004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A1A1A"/>
                </a:solidFill>
              </a:defRPr>
            </a:pPr>
            <a:r>
              <a:rPr sz="1500" b="1" i="0">
                <a:solidFill>
                  <a:srgbClr val="1A1A1A"/>
                </a:solidFill>
              </a:rPr>
              <a:t>t0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57E4F-FF7E-44EA-9C03-43A26D0D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200400"/>
            <a:ext cx="27432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 + 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DAEB16-9079-4550-8725-322CF3FF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1148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89C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01BAD3-F57A-459D-A181-1C062811E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1148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A1A1A"/>
                </a:solidFill>
              </a:defRPr>
            </a:pPr>
            <a:r>
              <a:rPr sz="1500" b="1" i="0">
                <a:solidFill>
                  <a:srgbClr val="1A1A1A"/>
                </a:solidFill>
              </a:rPr>
              <a:t>t1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91CE1E-4454-40B6-BCF8-B6EC2AF5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114800"/>
            <a:ext cx="27432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c + 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E14D6A-11EB-4FF5-940B-E5419298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C4422E"/>
                </a:solidFill>
              </a:defRPr>
            </a:pPr>
            <a:r>
              <a:rPr sz="1350" b="0" i="1">
                <a:solidFill>
                  <a:srgbClr val="C4422E"/>
                </a:solidFill>
              </a:rPr>
              <a:t>now imagine 80 of these - by hand - without bugs</a:t>
            </a:r>
          </a:p>
        </p:txBody>
      </p:sp>
    </p:spTree>
    <p:extLst>
      <p:ext uri="{BB962C8B-B14F-4D97-AF65-F5344CB8AC3E}">
        <p14:creationId xmlns:p14="http://schemas.microsoft.com/office/powerpoint/2010/main" val="2175364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33713A-6C99-4A80-AC3B-18DF68AA5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A REAL PROGRAM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F0D31-53AF-45F9-B8ED-A58A3834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28800"/>
            <a:ext cx="758952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B0AF7-D400-449F-8204-CA9B411C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1938528"/>
            <a:ext cx="7260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// 3-4-5 right triangle. Expected: hyp_sq = 25.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A3093-DDF6-400D-AC3C-8A9A459D4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328672"/>
            <a:ext cx="7260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DA927-9D5C-4D85-B089-C050DD76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718816"/>
            <a:ext cx="7260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int a = 4;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4F8727-AD41-4652-B35D-55B06A32F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108960"/>
            <a:ext cx="7260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int b = 3;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5105E8-61FD-4ECD-8E5A-810DF530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499104"/>
            <a:ext cx="7260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int hyp_sq = a * a + b * b;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08634-CBB9-4C79-9D5A-A44C9EC8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01200" y="2639854"/>
            <a:ext cx="182880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4C72C9-9A90-467D-824D-EE3F9C9B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587806">
            <a:off x="9372600" y="1954054"/>
            <a:ext cx="228600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CF3C56-5170-41E0-B106-4478059F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915400" y="1954054"/>
            <a:ext cx="137160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CB3341-A39D-4D0E-98E9-C4DAABAF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28800"/>
            <a:ext cx="2743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B6B6B"/>
                </a:solidFill>
              </a:defRPr>
            </a:pPr>
            <a:r>
              <a:rPr sz="1050" b="0" i="0">
                <a:solidFill>
                  <a:srgbClr val="6B6B6B"/>
                </a:solidFill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4819B1-7BD2-4F2A-B554-8AA489E8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2743200"/>
            <a:ext cx="4572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B6B6B"/>
                </a:solidFill>
              </a:defRPr>
            </a:pPr>
            <a:r>
              <a:rPr sz="1050" b="0" i="0">
                <a:solidFill>
                  <a:srgbClr val="6B6B6B"/>
                </a:solidFill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21C8F-10CC-4D85-9264-5CEE9593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1737360"/>
            <a:ext cx="4572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91EB29-4C1D-435F-AADD-C6D0B2F2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three lines. compile, run, read RAM[16].</a:t>
            </a:r>
          </a:p>
        </p:txBody>
      </p:sp>
    </p:spTree>
    <p:extLst>
      <p:ext uri="{BB962C8B-B14F-4D97-AF65-F5344CB8AC3E}">
        <p14:creationId xmlns:p14="http://schemas.microsoft.com/office/powerpoint/2010/main" val="5569165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C3285-948D-462D-9E88-B8CC5A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WHAT WE GOT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69D07-F37E-44EC-B9B4-27AE1034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20640" y="4096941"/>
            <a:ext cx="164592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EB0A32-49EA-4FCC-94F6-EB6F7225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4503420" y="3479721"/>
            <a:ext cx="123444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A1A1A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2A8E9-05DD-4C89-9307-6549B9D4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8587806">
            <a:off x="4914900" y="3473768"/>
            <a:ext cx="2057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E705B-461C-4A77-91E9-CD0D3908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4114800"/>
            <a:ext cx="164592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27493F-2039-4858-8B99-7F266D16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4114800"/>
            <a:ext cx="1645920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6B6B6B"/>
                </a:solidFill>
              </a:defRPr>
            </a:pPr>
            <a:r>
              <a:rPr sz="3300" b="1" i="0">
                <a:solidFill>
                  <a:srgbClr val="6B6B6B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4D2CD-495A-4AE0-933D-ADE396C6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80360"/>
            <a:ext cx="123444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5B51F3-0046-4E75-A779-11E6BE0A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80360"/>
            <a:ext cx="1234440" cy="1234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6B6B6B"/>
                </a:solidFill>
              </a:defRPr>
            </a:pPr>
            <a:r>
              <a:rPr sz="2700" b="1" i="0">
                <a:solidFill>
                  <a:srgbClr val="6B6B6B"/>
                </a:solidFill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5B567-B118-4E34-B77B-CF0979DF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46304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89C"/>
          </a:solidFill>
          <a:ln xmlns:a="http://schemas.openxmlformats.org/drawingml/2006/main" w="28575">
            <a:solidFill>
              <a:srgbClr val="C4422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11625-C922-4F3E-98A6-F90B50282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1463040"/>
            <a:ext cx="2286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300" b="1" i="0">
                <a:solidFill>
                  <a:srgbClr val="C4422E"/>
                </a:solidFill>
              </a:defRPr>
            </a:pPr>
            <a:r>
              <a:rPr sz="6300" b="1" i="0">
                <a:solidFill>
                  <a:srgbClr val="C4422E"/>
                </a:solidFill>
              </a:rPr>
              <a:t>25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5BFF4-57FF-46F3-BE94-BE4C08AC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3840480"/>
            <a:ext cx="283464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the square on the hypotenuse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4FC09-2CF8-4E39-8969-7B61F580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2345632">
            <a:off x="6608294" y="3039904"/>
            <a:ext cx="1413813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D2A663-196D-4487-9F8C-FDFCAE3A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054368">
            <a:off x="7768590" y="251079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5054FE-10DC-4429-BCE2-671E73A0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2926080" cy="1645920"/>
          </a:xfrm>
          <a:prstGeom xmlns:a="http://schemas.openxmlformats.org/drawingml/2006/main" prst="roundRect">
            <a:avLst>
              <a:gd name="adj" fmla="val 4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C4422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9B666D-007C-4683-B58D-139D6759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94560"/>
            <a:ext cx="29260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6B6B6B"/>
                </a:solidFill>
              </a:defRPr>
            </a:pPr>
            <a:r>
              <a:rPr sz="3300" b="1" i="0">
                <a:solidFill>
                  <a:srgbClr val="6B6B6B"/>
                </a:solidFill>
              </a:rPr>
              <a:t>sqrt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955716-F963-45E5-BA3E-92B3E03B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486508">
            <a:off x="885338" y="2604135"/>
            <a:ext cx="2618443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4310C7-180F-4472-814F-A04E63EE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313492">
            <a:off x="885338" y="2604135"/>
            <a:ext cx="2618443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53401-EC22-41D1-A334-93005C56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2926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 i="1">
                <a:solidFill>
                  <a:srgbClr val="6B6B6B"/>
                </a:solidFill>
              </a:defRPr>
            </a:pPr>
            <a:r>
              <a:rPr sz="1050" b="0" i="1">
                <a:solidFill>
                  <a:srgbClr val="6B6B6B"/>
                </a:solidFill>
              </a:rPr>
              <a:t>not in the instruction 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CE9299-05F7-444D-9DB9-3EC1691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we can compute the area. the side is not our problem.</a:t>
            </a:r>
          </a:p>
        </p:txBody>
      </p:sp>
    </p:spTree>
    <p:extLst>
      <p:ext uri="{BB962C8B-B14F-4D97-AF65-F5344CB8AC3E}">
        <p14:creationId xmlns:p14="http://schemas.microsoft.com/office/powerpoint/2010/main" val="120057518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7772C9-CEAB-48E6-995B-90205379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STEP 1   *   PARSE  -&gt;  TREE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9BC7D1-4397-4FDF-AE3B-2EFF233D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188720"/>
            <a:ext cx="121920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1A1A1A"/>
                </a:solidFill>
              </a:defRPr>
            </a:pPr>
            <a:r>
              <a:rPr sz="2700" b="1" i="0">
                <a:solidFill>
                  <a:srgbClr val="1A1A1A"/>
                </a:solidFill>
              </a:rPr>
              <a:t>int hyp_sq  =  a * a + b * b ;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14746E-C5AF-4504-B7CF-815F72596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867400" y="2313861"/>
            <a:ext cx="45720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45FE4-F41C-4461-BD78-234A9F280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991225" y="2455545"/>
            <a:ext cx="2095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BAA705-AE37-4CF8-84BB-196AAB70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4320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E89C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E4C96B-1D25-478B-B152-94E241C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74320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+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3CFCE-1374-4925-A0BA-48C559E4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393192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DD71A-51C4-4BC1-A515-6A7263AD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360" y="393192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7859D2-D43D-48F0-A277-BDC8FC7F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240" y="393192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20C8B9-8EAD-4918-AD82-CFC42435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6240" y="393192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7C9507-133E-4D48-ACA1-C79DE7E2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960" y="5120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D9EAD9-A30A-4BB7-8C0A-C3F7064F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6960" y="5120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2BF02-FEC6-45AD-BCBB-AEE19EAD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760" y="5120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78627D-733D-4159-9E77-50F08AD1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5760" y="5120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6F349-6EBB-4964-B842-DCB2A3B9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1840" y="5120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D5AD78-C169-4B29-9E23-9DBE75FB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1840" y="5120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035B3A-15A7-4A26-AC57-A68EDA8D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640" y="5120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8B051-EE52-4086-A12E-52D4AB86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640" y="5120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EF8B61-B113-48DC-8F5C-E6E69CCBF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020323">
            <a:off x="3687318" y="3648670"/>
            <a:ext cx="243992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97DFA-BC8B-433A-B436-799610882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79677">
            <a:off x="6064758" y="3648670"/>
            <a:ext cx="243992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3B3B74-61D3-487A-AAB5-1789BD74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2728178" y="483739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9FF9C-D1C4-4E79-A40D-5182455B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3642578" y="483739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A84E8A-FC09-42DD-8A16-DE4D5D69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7483058" y="483739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B51BC6-80E4-4888-B077-2979B595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8397458" y="483739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6118FB-F92A-4C6D-80ED-C6C6BD3C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expressions nest, so they're trees</a:t>
            </a:r>
          </a:p>
        </p:txBody>
      </p:sp>
    </p:spTree>
    <p:extLst>
      <p:ext uri="{BB962C8B-B14F-4D97-AF65-F5344CB8AC3E}">
        <p14:creationId xmlns:p14="http://schemas.microsoft.com/office/powerpoint/2010/main" val="167224346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965259-20C7-402E-A5E1-D65E0E16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HASKELL  *  THE ABSTRACT SYNTAX TREE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1C48E9-9FDF-4946-B41B-DB87021C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28800"/>
            <a:ext cx="758952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51788-592F-411B-B094-8971D8ED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1938528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A1A1A"/>
                </a:solidFill>
              </a:defRPr>
            </a:pPr>
            <a:r>
              <a:rPr sz="2100" b="0" i="0">
                <a:solidFill>
                  <a:srgbClr val="1A1A1A"/>
                </a:solidFill>
              </a:rPr>
              <a:t>data Expr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BFA5F-05FA-40AB-9DA4-556B7441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279904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A1A1A"/>
                </a:solidFill>
              </a:defRPr>
            </a:pPr>
            <a:r>
              <a:rPr sz="2100" b="0" i="0">
                <a:solidFill>
                  <a:srgbClr val="1A1A1A"/>
                </a:solidFill>
              </a:rPr>
              <a:t>    = Lit   Int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23AE51-FD6A-46F8-9463-1D6D9706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621280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A1A1A"/>
                </a:solidFill>
              </a:defRPr>
            </a:pPr>
            <a:r>
              <a:rPr sz="2100" b="0" i="0">
                <a:solidFill>
                  <a:srgbClr val="1A1A1A"/>
                </a:solidFill>
              </a:rPr>
              <a:t>    | Var   String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C3770A-A8D0-475F-8C2A-18AC7DB2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2962656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C4422E"/>
                </a:solidFill>
              </a:defRPr>
            </a:pPr>
            <a:r>
              <a:rPr sz="2100" b="1" i="0">
                <a:solidFill>
                  <a:srgbClr val="C4422E"/>
                </a:solidFill>
              </a:rPr>
              <a:t>    | BinOp Op Expr Expr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24B1B-8047-453A-B4B4-68573DE8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304032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A1A1A"/>
                </a:solidFill>
              </a:defRPr>
            </a:pPr>
            <a:r>
              <a:rPr sz="2100" b="0" i="0">
                <a:solidFill>
                  <a:srgbClr val="1A1A1A"/>
                </a:solidFill>
              </a:rPr>
              <a:t>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5A72A-66B8-474B-ABBF-AF6BF093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0592" y="3645408"/>
            <a:ext cx="7260336" cy="3794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A1A1A"/>
                </a:solidFill>
              </a:defRPr>
            </a:pPr>
            <a:r>
              <a:rPr sz="2100" b="0" i="0">
                <a:solidFill>
                  <a:srgbClr val="1A1A1A"/>
                </a:solidFill>
              </a:rPr>
              <a:t>data Op = Add | Sub | Mul | Div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725984-2013-4B1C-8C41-6F929B7C8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three lines define the entire expression language</a:t>
            </a:r>
          </a:p>
        </p:txBody>
      </p:sp>
    </p:spTree>
    <p:extLst>
      <p:ext uri="{BB962C8B-B14F-4D97-AF65-F5344CB8AC3E}">
        <p14:creationId xmlns:p14="http://schemas.microsoft.com/office/powerpoint/2010/main" val="3295668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D0568-3293-4FA9-9DCA-EB499C29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HASKELL  *  PRECEDENCE IS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8F2DF-C850-44C9-9FD3-997414D61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94560"/>
            <a:ext cx="9418320" cy="2377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FA392-1AF3-4655-BF33-545352D8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2304288"/>
            <a:ext cx="9089136" cy="3307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A1A1A"/>
                </a:solidFill>
              </a:defRPr>
            </a:pPr>
            <a:r>
              <a:rPr sz="1800" b="0" i="0">
                <a:solidFill>
                  <a:srgbClr val="1A1A1A"/>
                </a:solidFill>
              </a:rPr>
              <a:t>operatorTable =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A4BB8-5487-449B-BEC3-F1DE4FB9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2596896"/>
            <a:ext cx="9089136" cy="3307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C4422E"/>
                </a:solidFill>
              </a:defRPr>
            </a:pPr>
            <a:r>
              <a:rPr sz="1800" b="1" i="0">
                <a:solidFill>
                  <a:srgbClr val="C4422E"/>
                </a:solidFill>
              </a:rPr>
              <a:t>    [ [ binaryL "*" Mul, binaryL "/" Div ]   &lt;- binds tighter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F4718-2DD4-425F-AE60-323876ED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2889504"/>
            <a:ext cx="9089136" cy="3307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C4422E"/>
                </a:solidFill>
              </a:defRPr>
            </a:pPr>
            <a:r>
              <a:rPr sz="1800" b="1" i="0">
                <a:solidFill>
                  <a:srgbClr val="C4422E"/>
                </a:solidFill>
              </a:rPr>
              <a:t>    , [ binaryL "+" Add, binaryL "-" Sub ]   &lt;- binds looser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556E07-D503-46EA-8D7F-405EC8A7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192" y="3182112"/>
            <a:ext cx="9089136" cy="3307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1A1A1A"/>
                </a:solidFill>
              </a:defRPr>
            </a:pPr>
            <a:r>
              <a:rPr sz="1800" b="0" i="0">
                <a:solidFill>
                  <a:srgbClr val="1A1A1A"/>
                </a:solidFill>
              </a:rPr>
              <a:t>    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94195E-509A-498D-BECA-F73804F79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row order = precedence. grammar as data, not code.</a:t>
            </a:r>
          </a:p>
        </p:txBody>
      </p:sp>
    </p:spTree>
    <p:extLst>
      <p:ext uri="{BB962C8B-B14F-4D97-AF65-F5344CB8AC3E}">
        <p14:creationId xmlns:p14="http://schemas.microsoft.com/office/powerpoint/2010/main" val="13967972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03121-E88A-4980-9772-319684FE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CODEGEN  *  EASY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4E9E8-18E3-4E01-86AD-908B706CF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4592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D316C-7228-444F-A224-5CB0235BC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164592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481DEA-0F50-407D-BA95-D2EEF238D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34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572502-29A4-46A7-B5DB-3A5FE089D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34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E8A30-829E-4525-BA18-AA6EB84C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8346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0A60E-5A56-4510-824D-1E1274D9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8346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165C5-2A21-47E8-97BF-273B6761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778596">
            <a:off x="1654303" y="2551390"/>
            <a:ext cx="989075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3E839-6BAC-48BF-B389-A86B110C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021404">
            <a:off x="2477263" y="2551390"/>
            <a:ext cx="989075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360337-6211-42AD-82C5-E73F47B89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114800" y="2359581"/>
            <a:ext cx="82296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7B701-7B74-43A4-BC3E-11E2B0B3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32985" y="2272665"/>
            <a:ext cx="2095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0CE0EB-1649-40D4-9A87-58817A9E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1828800"/>
            <a:ext cx="301752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E7AF30-2324-46C9-ABE9-77413017D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1938528"/>
            <a:ext cx="2688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loadm 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743019-689B-4DC8-97C0-859B9CDD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328672"/>
            <a:ext cx="2688336" cy="4282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 i="0">
                <a:solidFill>
                  <a:srgbClr val="1A1A1A"/>
                </a:solidFill>
              </a:defRPr>
            </a:pPr>
            <a:r>
              <a:rPr sz="2400" b="0" i="0">
                <a:solidFill>
                  <a:srgbClr val="1A1A1A"/>
                </a:solidFill>
              </a:rPr>
              <a:t>mulm   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EBBD6-51CD-4944-B41C-EF363CDE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463040"/>
            <a:ext cx="301752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accumulator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787863-B79F-40BC-9EC1-A515B2F2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2880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0D1D2B-8CCB-4FFB-82E8-2A198C60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82880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D4B875-BB80-4844-8F09-17D5FE699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1460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start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2B2E99-C833-4884-BE2E-EB2E14BC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B1A112-723A-4E9B-813E-27F1A0A3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2608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269AA5-15A4-46D7-82D5-7977AD4A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1188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loadm 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EA926-9F2D-4FB9-A3C5-032F30772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2336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296C0-EF94-42F4-8328-22ECDBE9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23360"/>
            <a:ext cx="109728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A1A1A"/>
                </a:solidFill>
              </a:defRPr>
            </a:pPr>
            <a:r>
              <a:rPr sz="1650" b="1" i="0">
                <a:solidFill>
                  <a:srgbClr val="1A1A1A"/>
                </a:solidFill>
              </a:rPr>
              <a:t>a^2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0D7348-5B0A-45E8-A682-DABC98D7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09160"/>
            <a:ext cx="109728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6B6B6B"/>
                </a:solidFill>
              </a:defRPr>
            </a:pPr>
            <a:r>
              <a:rPr sz="825" b="0" i="0">
                <a:solidFill>
                  <a:srgbClr val="6B6B6B"/>
                </a:solidFill>
              </a:rPr>
              <a:t>mulm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113C13-4504-4439-803F-C1E771EB2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leaves emit one instruction. the contract: value lives in the accumulator.</a:t>
            </a:r>
          </a:p>
        </p:txBody>
      </p:sp>
    </p:spTree>
    <p:extLst>
      <p:ext uri="{BB962C8B-B14F-4D97-AF65-F5344CB8AC3E}">
        <p14:creationId xmlns:p14="http://schemas.microsoft.com/office/powerpoint/2010/main" val="79666710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FDC92-324F-4F4D-B707-99DD6E0F9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CODEGEN  *  THE TEMP DANCE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1B11B-E4ED-4E7A-AFA4-A8800D8F8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18872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E89C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4EEAA6-D7D8-4CB5-92FE-D5510DA4D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18872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+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F0BE6-7ABB-49B0-8913-7B2346FE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774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E46A0-5940-4526-8DA6-7A8CC88D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774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E21447-0E6A-452A-AF3E-06141BF64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774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BAECB-245D-461F-B296-07DC981C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23774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E8EF8-527D-4610-A132-6DC56856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35661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C7C657-775C-4ADC-B4BB-AB8B1709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35661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4C8BD3-87F4-4F17-A832-E53D9D8E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5661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F15C0-008A-45BB-93F0-CF26F948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35661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0C0D11-490D-4F0B-8DF5-8224341F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5661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79D6F-141C-4760-B8BA-28FBF85A4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35661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E78586-4435-49B9-9276-5AC0D37E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5661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98C14C-6347-4CCC-890D-278043AD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35661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D02F97-02B1-4FFC-AEB2-941204A9E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408085">
            <a:off x="1406734" y="2094190"/>
            <a:ext cx="1392773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9336D-7CC5-46D0-A856-5EED1F01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91915">
            <a:off x="2686894" y="2094190"/>
            <a:ext cx="1392773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5A107-6BA9-49C4-BA3B-25DED92F0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472658" y="32829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FF54ED-B504-4000-A3AF-C37B7842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1387058" y="32829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38F5A6-1AF5-4D12-ADA4-9171224E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3032978" y="32829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D0764A8-6062-4D83-A70D-F10C95B1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3947378" y="32829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0B7AD6-436B-486B-BB3B-D15A3870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463040"/>
            <a:ext cx="4114800" cy="420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A17AB72-C83C-4DDF-896D-D0531621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57276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loadm  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4C9CFA-4CB2-4291-B401-6659C097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181660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mulm  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0E98E-F8EF-4E04-935B-5E03D378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06044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C4422E"/>
                </a:solidFill>
              </a:defRPr>
            </a:pPr>
            <a:r>
              <a:rPr sz="1500" b="1" i="0">
                <a:solidFill>
                  <a:srgbClr val="C4422E"/>
                </a:solidFill>
              </a:rPr>
              <a:t>store  t0     &lt;- stash a^2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27C96-68C6-4AD0-A619-77B0C268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30428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loadm 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D94A0E-1BC8-4F91-8617-AD1A498E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54812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mulm   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B5BCBD-175A-496C-A686-8203B1D59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279196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C4422E"/>
                </a:solidFill>
              </a:defRPr>
            </a:pPr>
            <a:r>
              <a:rPr sz="1500" b="1" i="0">
                <a:solidFill>
                  <a:srgbClr val="C4422E"/>
                </a:solidFill>
              </a:rPr>
              <a:t>store  t1     &lt;- stash b^2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D8D40D-1A21-4050-B6D5-E7FE6A9D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03580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C4422E"/>
                </a:solidFill>
              </a:defRPr>
            </a:pPr>
            <a:r>
              <a:rPr sz="1500" b="1" i="0">
                <a:solidFill>
                  <a:srgbClr val="C4422E"/>
                </a:solidFill>
              </a:rPr>
              <a:t>loadm  t0     &lt;- reload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7AC244-08E9-4E4D-8A12-73255EF3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27964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addm   t1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32EFDF-0F2D-46D2-9014-89230B53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0992" y="3523488"/>
            <a:ext cx="3785616" cy="2819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A1A1A"/>
                </a:solidFill>
              </a:defRPr>
            </a:pPr>
            <a:r>
              <a:rPr sz="1500" b="0" i="0">
                <a:solidFill>
                  <a:srgbClr val="1A1A1A"/>
                </a:solidFill>
              </a:rPr>
              <a:t>store  hyp_sq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D44419-7E5E-48C5-8D06-E53FD39E3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28800"/>
            <a:ext cx="13716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81DC146-9C60-4796-967E-692384CC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18288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acc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02E9FA-CD37-4B7F-B008-B2F28D3C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43200"/>
            <a:ext cx="13716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E89C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44031C-EF29-439A-8EF5-73FBE0C4A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7432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t0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63C8B1C-0764-4AE9-8C0A-787445B9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657600"/>
            <a:ext cx="13716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E89C"/>
          </a:solidFill>
          <a:ln xmlns:a="http://schemas.openxmlformats.org/drawingml/2006/main" w="9525">
            <a:solidFill>
              <a:srgbClr val="1A1A1A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FB62C8C-946A-49D2-A2DC-B81CAD09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657600"/>
            <a:ext cx="13716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t1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5A6888-1096-465A-B094-B913E303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stash the left, compute the right, recombine</a:t>
            </a:r>
          </a:p>
        </p:txBody>
      </p:sp>
    </p:spTree>
    <p:extLst>
      <p:ext uri="{BB962C8B-B14F-4D97-AF65-F5344CB8AC3E}">
        <p14:creationId xmlns:p14="http://schemas.microsoft.com/office/powerpoint/2010/main" val="369942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03CA4-A72F-4B8E-8A19-60DEE034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HASKELL  *  THE CODEGEN FUNCTION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5D1B0-0797-4698-BEFE-1684F42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377440"/>
            <a:ext cx="11064240" cy="2194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B22D2A-01DE-4E25-A200-6D610C879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487168"/>
            <a:ext cx="1073505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genExpr _    (Lit n)        = ...   -- emit loadn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06593-3CF0-4141-BE6A-EDBB6AE8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55392"/>
            <a:ext cx="1073505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genExpr vars (Var x)        = ...   -- emit loadm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94B5B-8C2A-4269-B740-8E7EC91F1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3616"/>
            <a:ext cx="10735056" cy="30632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A1A1A"/>
                </a:solidFill>
              </a:defRPr>
            </a:pPr>
            <a:r>
              <a:rPr sz="1650" b="0" i="0">
                <a:solidFill>
                  <a:srgbClr val="1A1A1A"/>
                </a:solidFill>
              </a:rPr>
              <a:t>genExpr vars (BinOp op l r) = ...   -- recurse: l, then r, combine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6DE1B-BA18-4D0D-8032-D5235A7E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pattern-matches on tree shape. leaves emit; branches recurse.</a:t>
            </a:r>
          </a:p>
        </p:txBody>
      </p:sp>
    </p:spTree>
    <p:extLst>
      <p:ext uri="{BB962C8B-B14F-4D97-AF65-F5344CB8AC3E}">
        <p14:creationId xmlns:p14="http://schemas.microsoft.com/office/powerpoint/2010/main" val="20537352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3676A-A828-4993-9428-1EEBD542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STEP 3   *   LINK   *   NAMES -&gt; ADDRESSES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3159AA-3683-47E1-810C-EC3435E4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80160"/>
            <a:ext cx="36576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B6B6B"/>
                </a:solidFill>
              </a:defRPr>
            </a:pPr>
            <a:r>
              <a:rPr sz="1200" b="1" i="0">
                <a:solidFill>
                  <a:srgbClr val="6B6B6B"/>
                </a:solidFill>
              </a:rPr>
              <a:t>before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CFAB2-16A1-43BD-A30F-C9111E7A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45920"/>
            <a:ext cx="3657600" cy="402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7F09C-1611-42B1-A329-4C013CA9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755648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loadm 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AE814-63E6-4DDF-85EB-17558945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1975104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mulm   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347E30-E701-47AE-89AE-A1449A74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194560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store  t0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1789E-0534-4806-BC71-155B07686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414016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loadm 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45E5F1-012D-4B65-B964-4DDD045B4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633472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mulm   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C82721-29BD-4B91-9F25-06F5CA3AA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852928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store  t1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FCCF0-C2AC-4360-A0C8-460DABDEE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072384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loadm  t0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C75EC-E5F2-4474-B214-C4DEFBB1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291840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addm   t1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D7AA8B-2CAE-4B2D-B8F6-BD8A134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511296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store  hyp_sq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5F48AC-9460-47E7-87CA-AADC8123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730752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halt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AD8D63-4CEC-4FCF-BE87-DC4E646E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37760" y="3639741"/>
            <a:ext cx="548640" cy="3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0E709-67D1-473B-BB03-A5FB6125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381625" y="3552825"/>
            <a:ext cx="209550" cy="2095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086089-1F9D-4B58-82B7-84F1BC07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280160"/>
            <a:ext cx="36576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B6B6B"/>
                </a:solidFill>
              </a:defRPr>
            </a:pPr>
            <a:r>
              <a:rPr sz="1200" b="1" i="0">
                <a:solidFill>
                  <a:srgbClr val="6B6B6B"/>
                </a:solidFill>
              </a:rPr>
              <a:t>after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DB3087-2353-4242-93C1-F347BD5D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45920"/>
            <a:ext cx="3657600" cy="402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F37BCD-859E-479E-B2A3-2194B159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1755648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4: loadm  14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FD68A1-979C-4708-BED9-7BDC2DB0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1975104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5: mulm   14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39F5A8-79B6-4F35-8FFA-E76C641C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194560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6: store  17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E35447-9326-4B0F-A1E7-20C3F1D25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414016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7: loadm  15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2BABCF-2E1D-4E52-8FD5-FD3379E1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633472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8: mulm   15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80DC72-77A5-4064-B875-B95E77E1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852928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 9: store  18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531E95-8845-4F4C-801F-0CC7F518D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072384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10: loadm  17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1B40C8-0B4D-4E8F-B63C-9AA17DE55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291840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11: addm   18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23176D-F779-4538-80DC-C1646E55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11296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12: store  16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27C978-4512-4694-A5E1-62D5D745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730752"/>
            <a:ext cx="332841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13: halt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244489-7D85-4965-B828-7B10CF75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280160"/>
            <a:ext cx="22860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address table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A45C2C-4AF9-4D91-A9D4-51ABBA34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645920"/>
            <a:ext cx="2286000" cy="2011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2D8"/>
          </a:solidFill>
          <a:ln xmlns:a="http://schemas.openxmlformats.org/drawingml/2006/main" w="9525">
            <a:solidFill>
              <a:srgbClr val="6B6B6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D0C14A-B56A-43B3-A433-CDE4E0C32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1737360"/>
            <a:ext cx="1097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FC83D5-B7A0-493B-A5B9-A225B922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173736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B6B6B"/>
                </a:solidFill>
              </a:defRPr>
            </a:pPr>
            <a:r>
              <a:rPr sz="1350" b="0" i="0">
                <a:solidFill>
                  <a:srgbClr val="6B6B6B"/>
                </a:solidFill>
              </a:rPr>
              <a:t>-&gt;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765986-3877-46D1-B3E2-A0A168E1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1737360"/>
            <a:ext cx="640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14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66B253-1533-45EB-82B0-6A4A7A61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103120"/>
            <a:ext cx="1097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48520A-9746-4058-8B7D-112C0BBE7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10312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B6B6B"/>
                </a:solidFill>
              </a:defRPr>
            </a:pPr>
            <a:r>
              <a:rPr sz="1350" b="0" i="0">
                <a:solidFill>
                  <a:srgbClr val="6B6B6B"/>
                </a:solidFill>
              </a:rPr>
              <a:t>-&gt;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DCB2DE-1A23-44F5-B87E-812AF86C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103120"/>
            <a:ext cx="640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15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178772-B2D5-4260-ABFE-8581C063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468880"/>
            <a:ext cx="1097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hyp_sq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A380B3-8802-4E3E-9479-28E5682E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46888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B6B6B"/>
                </a:solidFill>
              </a:defRPr>
            </a:pPr>
            <a:r>
              <a:rPr sz="1350" b="0" i="0">
                <a:solidFill>
                  <a:srgbClr val="6B6B6B"/>
                </a:solidFill>
              </a:rPr>
              <a:t>-&gt;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E01A0D4-337F-45B9-BC9A-958D5474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468880"/>
            <a:ext cx="640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2B843F-210E-4D1A-8453-3012BDA22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2834640"/>
            <a:ext cx="1097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t0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A80665-7493-445A-918F-F5D740F1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283464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B6B6B"/>
                </a:solidFill>
              </a:defRPr>
            </a:pPr>
            <a:r>
              <a:rPr sz="1350" b="0" i="0">
                <a:solidFill>
                  <a:srgbClr val="6B6B6B"/>
                </a:solidFill>
              </a:rPr>
              <a:t>-&gt;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7126142-EF87-4174-9DA5-C60ADCE6D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2834640"/>
            <a:ext cx="640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17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90F64B-18D0-4A1D-AFBA-4C139083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3200400"/>
            <a:ext cx="10972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t1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2B86E1A-8C8D-41D8-8777-5255EE54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320040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B6B6B"/>
                </a:solidFill>
              </a:defRPr>
            </a:pPr>
            <a:r>
              <a:rPr sz="1350" b="0" i="0">
                <a:solidFill>
                  <a:srgbClr val="6B6B6B"/>
                </a:solidFill>
              </a:rPr>
              <a:t>-&gt;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ED3252-C493-4F41-B36C-DAE1ACD5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3200400"/>
            <a:ext cx="64008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4422E"/>
                </a:solidFill>
              </a:defRPr>
            </a:pPr>
            <a:r>
              <a:rPr sz="1350" b="1" i="0">
                <a:solidFill>
                  <a:srgbClr val="C4422E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99061568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72390-BC95-4F97-AC8B-8E41A82F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SAME PROGRAM. FOUR WAYS.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4E8105-2B00-4509-92C4-7F6800C5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5156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B6B6B"/>
                </a:solidFill>
              </a:defRPr>
            </a:pPr>
            <a:r>
              <a:rPr sz="900" b="1" i="0">
                <a:solidFill>
                  <a:srgbClr val="6B6B6B"/>
                </a:solidFill>
              </a:rPr>
              <a:t>source  (.thcc)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33F59-CE89-4553-A9FA-1875C00E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5577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7F407-58A6-4CFC-9B6E-6E0ED56B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435608"/>
            <a:ext cx="524865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int a = 4;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415DD-7146-4FEE-BDA2-37BF83FA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55064"/>
            <a:ext cx="524865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int b = 3;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1E5DF-A175-4562-A7F4-81C49873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74520"/>
            <a:ext cx="5248656" cy="2575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A1A1A"/>
                </a:solidFill>
              </a:defRPr>
            </a:pPr>
            <a:r>
              <a:rPr sz="1350" b="0" i="0">
                <a:solidFill>
                  <a:srgbClr val="1A1A1A"/>
                </a:solidFill>
              </a:rPr>
              <a:t>int hyp_sq = a * a + b * b;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608BB6-6904-4479-8FB5-E85EE451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05156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B6B6B"/>
                </a:solidFill>
              </a:defRPr>
            </a:pPr>
            <a:r>
              <a:rPr sz="900" b="1" i="0">
                <a:solidFill>
                  <a:srgbClr val="6B6B6B"/>
                </a:solidFill>
              </a:rPr>
              <a:t>AST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7CD5B1-A54F-4F27-A8B1-3AB588A1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41732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E89C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A5A973-98E6-4823-8FA2-330825A3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41732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+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234FF6-38CD-42C5-8935-F32E576B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6060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8CDD0C-E586-4521-81AB-4F8D6D36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6060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3F986-0DA9-46BE-87D3-6049F61B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60604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53443D-2305-4986-B674-38BEC6A6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60604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7CF35-F02E-47BD-9A41-9DE3DF02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947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2D1E23-F5CD-4E0B-A1BE-B269DD3EF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7947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68A44D-82F9-4591-877D-B5B9DB400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BA801-1EE9-42C7-923C-94486DB88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947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C32039-A14C-4FC5-A12D-F72E5487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947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915BA-DF2A-411E-A3AF-24CFDFB9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947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447C2F-34FF-44C3-AAD1-CB82CCF9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0" y="3794760"/>
            <a:ext cx="914400" cy="64008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4288">
            <a:solidFill>
              <a:srgbClr val="1A1A1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E9D305-3C7A-4BCA-A751-67F7E8D8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0" y="3794760"/>
            <a:ext cx="9144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b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9F0638-BFA1-4B9E-94D1-205D1F8F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9206097">
            <a:off x="7616202" y="2322790"/>
            <a:ext cx="1226796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80E3A-4EEF-48F6-BA97-249E5BA2E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593903">
            <a:off x="8713482" y="2322790"/>
            <a:ext cx="1226796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DB8FBD-20A3-4577-B3FD-4FF8879B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6690578" y="35115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A09CAF-C4D4-491E-85DB-6ED71FB1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7604978" y="35115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F3820A-DD4E-4AA2-871E-6333863A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8942175">
            <a:off x="8885138" y="35115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ADA112-0435-453B-99C5-0F0BBCDF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857825">
            <a:off x="9799538" y="3511510"/>
            <a:ext cx="1066364" cy="178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EE8C93-58D1-4FFF-B719-601B294D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9476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B6B6B"/>
                </a:solidFill>
              </a:defRPr>
            </a:pPr>
            <a:r>
              <a:rPr sz="900" b="1" i="0">
                <a:solidFill>
                  <a:srgbClr val="6B6B6B"/>
                </a:solidFill>
              </a:rPr>
              <a:t>assembly  (.asm)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F20C07-444E-4E8D-B976-76B613D8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5577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865429-2DCD-4688-8F03-74C540BE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788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0: loadn  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EFDBAC-A641-4E61-A780-14B84381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407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1: store  14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D2DA31A-A9D2-4AF7-B0F6-32736534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5026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2: loadn  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533186-AD9A-4522-87A9-E306CD81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645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3: store  15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DA0EE6-58A4-4F5C-AA82-F9ACAAC2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8265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4: loadm  14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E0AD16-12DD-4A88-B77A-AF2D15DE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9884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5: mulm   14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D31577-59AC-4B94-AB93-469AA135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503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6: store  17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1DCFAF-4E3A-4FA8-8C09-E08E5420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3122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7: loadm  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82E009-AC6A-460B-9AD0-6A98306A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742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8: mulm   15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73F297E-2829-40A8-AD2B-11FC65CE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361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 9: store  18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D79238-EEEB-4C91-9F04-F251365E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7980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10: loadm  17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295ED2-0AC6-4A71-8B20-3CBB3E6E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9599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11: addm   18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F00BE8-5E22-4308-88D8-BE3C76B5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1219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12: store  16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6BDDE24-DE57-433D-BCB6-3B02295D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62838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A1A1A"/>
                </a:solidFill>
              </a:defRPr>
            </a:pPr>
            <a:r>
              <a:rPr sz="975" b="0" i="0">
                <a:solidFill>
                  <a:srgbClr val="1A1A1A"/>
                </a:solidFill>
              </a:rPr>
              <a:t>13: halt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C0166A5-7F6E-4B5A-B26D-ACDD894E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79476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B6B6B"/>
                </a:solidFill>
              </a:defRPr>
            </a:pPr>
            <a:r>
              <a:rPr sz="900" b="1" i="0">
                <a:solidFill>
                  <a:srgbClr val="6B6B6B"/>
                </a:solidFill>
              </a:rPr>
              <a:t>machine code  (.hex / .bits)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D74A59-D590-4F3F-9CEA-00283F7E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4069080"/>
            <a:ext cx="5577840" cy="2148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CE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43372D4-38EB-4F60-AC07-001AA585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1788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0x3004    0011 0000 0000 0100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A2CB20E-3D2F-4FA6-B971-FF8E3E08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3407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0x400E    0100 0000 0000 1110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EC386E-CD16-4818-A0A5-AC03A7B6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5026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0x3003    0011 0000 0000 0011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4256664-B0E4-4D0C-B698-B537577B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6645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0x400F    0100 0000 0000 1111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E7B3ED9-3167-4285-A6CA-806BD815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8265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0x200E    0010 0000 0000 1110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15E355-5E2D-45B0-B729-D4FDF357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9884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0xB00E    1011 0000 0000 1110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FBE63C-1302-46AD-990F-C2E97C44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1503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0x4011    0100 0000 0001 0001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377D16-8D47-41B3-A5AF-303611700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3122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0x200F    0010 0000 0000 1111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A58CB0-5E70-4600-80DB-906C52C9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4742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0xB00F    1011 0000 0000 1111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B9DA0E-AE6C-42D3-A833-FC006A4C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6361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0x4012    0100 0000 0001 0010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A3EE10-415F-4AFE-8682-1EA47854B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79805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0x2011    0010 0000 0001 0001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3006310-C74C-4C88-A064-36747A12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95998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0x7012    0111 0000 0001 0010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E55C07-2B8E-4244-B386-E0EDB8ECF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6121908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0x4010    0100 0000 0001 0000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87E627E-F95C-409A-AD19-E0328E3B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6283833"/>
            <a:ext cx="5248656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1A1A1A"/>
                </a:solidFill>
              </a:defRPr>
            </a:pPr>
            <a:r>
              <a:rPr sz="825" b="0" i="0">
                <a:solidFill>
                  <a:srgbClr val="1A1A1A"/>
                </a:solidFill>
              </a:rPr>
              <a:t>0x1000    0001 0000 0000 0000</a:t>
            </a:r>
          </a:p>
        </p:txBody>
      </p:sp>
    </p:spTree>
    <p:extLst>
      <p:ext uri="{BB962C8B-B14F-4D97-AF65-F5344CB8AC3E}">
        <p14:creationId xmlns:p14="http://schemas.microsoft.com/office/powerpoint/2010/main" val="214588658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6AE3E-2FF9-4F8E-8F40-0A3167F3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CAESAR CIPHER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E02B7-DA9A-453B-8D0A-60596A78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93392"/>
            <a:ext cx="164592" cy="164592"/>
          </a:xfrm>
          <a:prstGeom xmlns:a="http://schemas.openxmlformats.org/drawingml/2006/main" prst="roundRect">
            <a:avLst>
              <a:gd name="adj" fmla="val 46296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2D630-92B1-4FA6-BC8D-0C49DC68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1828800"/>
            <a:ext cx="6400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Used in Roman military dispatches.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FA6934-604F-4456-B274-44137CF7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240280"/>
            <a:ext cx="6400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1">
                <a:solidFill>
                  <a:srgbClr val="6B6B6B"/>
                </a:solidFill>
              </a:defRPr>
            </a:pPr>
            <a:r>
              <a:rPr sz="1200" b="0" i="1">
                <a:solidFill>
                  <a:srgbClr val="6B6B6B"/>
                </a:solidFill>
              </a:rPr>
              <a:t>~50 BC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AAEBF2-D01F-4259-8FE7-DF46A55D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07792"/>
            <a:ext cx="164592" cy="164592"/>
          </a:xfrm>
          <a:prstGeom xmlns:a="http://schemas.openxmlformats.org/drawingml/2006/main" prst="roundRect">
            <a:avLst>
              <a:gd name="adj" fmla="val 46296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99DC76-EA73-4B8A-9479-59C8B73F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43200"/>
            <a:ext cx="6400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Each letter shifted by a fixed key.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B2CDD-A3D8-42CB-9FE2-262E355E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154680"/>
            <a:ext cx="6400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1">
                <a:solidFill>
                  <a:srgbClr val="6B6B6B"/>
                </a:solidFill>
              </a:defRPr>
            </a:pPr>
            <a:r>
              <a:rPr sz="1200" b="0" i="1">
                <a:solidFill>
                  <a:srgbClr val="6B6B6B"/>
                </a:solidFill>
              </a:rPr>
              <a:t>shift 3: A -&gt; D, B -&gt; E, C -&gt; 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DCB18A-1ECB-4B3A-AE98-C531F113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22192"/>
            <a:ext cx="164592" cy="164592"/>
          </a:xfrm>
          <a:prstGeom xmlns:a="http://schemas.openxmlformats.org/drawingml/2006/main" prst="roundRect">
            <a:avLst>
              <a:gd name="adj" fmla="val 46296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F898E-9B3C-42DD-A4DA-F422D6CF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657600"/>
            <a:ext cx="6400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Trivially broken by frequency analysis.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CEFCAA-0DF2-4403-99BB-3328EDE9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069080"/>
            <a:ext cx="6400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1">
                <a:solidFill>
                  <a:srgbClr val="6B6B6B"/>
                </a:solidFill>
              </a:defRPr>
            </a:pPr>
            <a:r>
              <a:rPr sz="1200" b="0" i="1">
                <a:solidFill>
                  <a:srgbClr val="6B6B6B"/>
                </a:solidFill>
              </a:rPr>
              <a:t>but it's the ancestor of every cipher since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62BC1-6550-4463-BD6E-049719C46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64592" cy="164592"/>
          </a:xfrm>
          <a:prstGeom xmlns:a="http://schemas.openxmlformats.org/drawingml/2006/main" prst="roundRect">
            <a:avLst>
              <a:gd name="adj" fmla="val 46296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4B97E-A24A-4187-9A0E-DD03D7FD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72000"/>
            <a:ext cx="6400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A1A1A"/>
                </a:solidFill>
              </a:defRPr>
            </a:pPr>
            <a:r>
              <a:rPr sz="1800" b="1" i="0">
                <a:solidFill>
                  <a:srgbClr val="1A1A1A"/>
                </a:solidFill>
              </a:rPr>
              <a:t>ROT13 (shift 13) is still used today.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019092-3110-4C13-B0D3-65C47AB7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983480"/>
            <a:ext cx="6400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1">
                <a:solidFill>
                  <a:srgbClr val="6B6B6B"/>
                </a:solidFill>
              </a:defRPr>
            </a:pPr>
            <a:r>
              <a:rPr sz="1200" b="0" i="1">
                <a:solidFill>
                  <a:srgbClr val="6B6B6B"/>
                </a:solidFill>
              </a:rPr>
              <a:t>spoiler tags on the internet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8C9FA4-4C45-4E27-930F-E352895E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377440"/>
            <a:ext cx="2926080" cy="2926080"/>
          </a:xfrm>
          <a:prstGeom xmlns:a="http://schemas.openxmlformats.org/drawingml/2006/main" prst="roundRect">
            <a:avLst>
              <a:gd name="adj" fmla="val 2604"/>
            </a:avLst>
          </a:prstGeom>
          <a:solidFill xmlns:a="http://schemas.openxmlformats.org/drawingml/2006/main">
            <a:srgbClr val="E6E2D8"/>
          </a:solidFill>
          <a:ln xmlns:a="http://schemas.openxmlformats.org/drawingml/2006/main" w="19050">
            <a:solidFill>
              <a:srgbClr val="1A1A1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7B885C-DF51-4AD2-9135-907E3DFD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269748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D0B6DA-3AD7-413B-BB48-5CA712AF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0" y="480060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5B951-3860-4663-98F2-3787E13C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5760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49837D-878A-4AAF-BBA9-141CBE45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3657600"/>
            <a:ext cx="36576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A1A1A"/>
                </a:solidFill>
              </a:defRPr>
            </a:pPr>
            <a:r>
              <a:rPr sz="1350" b="1" i="0">
                <a:solidFill>
                  <a:srgbClr val="1A1A1A"/>
                </a:solidFill>
              </a:rPr>
              <a:t>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8ED229-BA26-49AB-AA7C-44FF4E84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26080"/>
            <a:ext cx="182880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C35A3B-724C-4857-A71A-C85EF024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74720"/>
            <a:ext cx="1828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shift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CAFFFA-29AB-49E8-B594-4537078AF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40480"/>
            <a:ext cx="1828800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93126667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F7AC536-4AE4-4554-B471-DE4D57CF4D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193D52-84EE-451C-A6D5-337FFD82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0972800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B6B6B"/>
                </a:solidFill>
              </a:defRPr>
            </a:pPr>
            <a:r>
              <a:rPr sz="1050" b="1" i="0">
                <a:solidFill>
                  <a:srgbClr val="6B6B6B"/>
                </a:solidFill>
              </a:rPr>
              <a:t>EVERY TIME YOU PRESS RUN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1764A-6270-49C9-92E8-B85BEB91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128016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0C15B-4855-4D53-96A6-614B200F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28016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caesar.thcc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8CBC7-E634-4DD0-B25F-936CE0EB5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FFFFFF"/>
                </a:solidFill>
              </a:defRPr>
            </a:pPr>
            <a:r>
              <a:rPr sz="1050" b="0" i="1">
                <a:solidFill>
                  <a:srgbClr val="FFFFFF"/>
                </a:solidFill>
              </a:rPr>
              <a:t>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49B906-D0B2-49A2-965B-90982CFD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01168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parse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1CBB3-BA25-4DE4-A926-CFAB3E07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213693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ABF7F7-3298-4FEC-94B2-38C1AFD1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214503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B587D9-EC74-4E8D-9B64-41431015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24028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2E6E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5A8A5-76CB-469D-84A2-2452CCD1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224028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AST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7A1F6-D8D1-451E-8B16-F08FA06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24028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FFFFFF"/>
                </a:solidFill>
              </a:defRPr>
            </a:pPr>
            <a:r>
              <a:rPr sz="1050" b="0" i="1">
                <a:solidFill>
                  <a:srgbClr val="FFFFFF"/>
                </a:solidFill>
              </a:rPr>
              <a:t>tree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AAC31D-09F1-4276-BA80-6BC16490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297180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codegen + link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D6BFC-8B8C-4D0E-97F0-DD756C80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309705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BEB20-D094-46FC-AAA8-A4D3C696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310515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81ACC2-03A2-4AED-B10E-791F2664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320040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5AD462-02E1-44D3-9597-9EB08FAD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20040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.asm  /  .hex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67D894-EB7A-4F6F-A597-104673BF9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20040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FFFFFF"/>
                </a:solidFill>
              </a:defRPr>
            </a:pPr>
            <a:r>
              <a:rPr sz="1050" b="0" i="1">
                <a:solidFill>
                  <a:srgbClr val="FFFFFF"/>
                </a:solidFill>
              </a:rPr>
              <a:t>machine 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924EDA-9F83-44CD-8FAB-C02664D9A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393192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load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690FD8-FBD0-4E1D-B0CF-37390F2A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405717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0A88A2-CB2C-42C1-8280-47FF007F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406527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5163C-D5B8-4ED4-8C37-30E51677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416052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2E6EA0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F073A-2A02-4C2F-94D1-F3DC57F2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416052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THMM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AFC775-4EF4-4FF3-A044-91B89131A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416052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FFFFFF"/>
                </a:solidFill>
              </a:defRPr>
            </a:pPr>
            <a:r>
              <a:rPr sz="1050" b="0" i="1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FCBCB4-2C68-4379-BA3C-5C15AF837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4892040"/>
            <a:ext cx="219456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1">
                <a:solidFill>
                  <a:srgbClr val="6B6B6B"/>
                </a:solidFill>
              </a:defRPr>
            </a:pPr>
            <a:r>
              <a:rPr sz="900" b="0" i="1">
                <a:solidFill>
                  <a:srgbClr val="6B6B6B"/>
                </a:solidFill>
              </a:rPr>
              <a:t>run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691CF0-94CA-4F1C-B19A-2C02CA92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35040" y="5017294"/>
            <a:ext cx="182880" cy="238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A1FFDA-C1A6-4431-A1A0-466DC0DF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31230" y="5025390"/>
            <a:ext cx="190500" cy="1905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B6B6B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AF6FFA-9904-4A98-8983-E778D092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5120640"/>
            <a:ext cx="6400800" cy="777240"/>
          </a:xfrm>
          <a:prstGeom xmlns:a="http://schemas.openxmlformats.org/drawingml/2006/main" prst="roundRect">
            <a:avLst>
              <a:gd name="adj" fmla="val 9804"/>
            </a:avLst>
          </a:prstGeom>
          <a:solidFill xmlns:a="http://schemas.openxmlformats.org/drawingml/2006/main">
            <a:srgbClr val="C4422E"/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ACB038-A678-4ACF-B844-D7328C45A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5120640"/>
            <a:ext cx="32004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RAM cells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01C7D7-05B3-4A0E-A346-FC77EF68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5120640"/>
            <a:ext cx="274320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 i="1">
                <a:solidFill>
                  <a:srgbClr val="FFFFFF"/>
                </a:solidFill>
              </a:defRPr>
            </a:pPr>
            <a:r>
              <a:rPr sz="1050" b="0" i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79961F-0C87-47F6-8171-56D08EA0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6480"/>
            <a:ext cx="110642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 i="1">
                <a:solidFill>
                  <a:srgbClr val="6B6B6B"/>
                </a:solidFill>
              </a:defRPr>
            </a:pPr>
            <a:r>
              <a:rPr sz="1350" b="0" i="1">
                <a:solidFill>
                  <a:srgbClr val="6B6B6B"/>
                </a:solidFill>
              </a:rPr>
              <a:t>parse  *  generate  *  link  *  execute</a:t>
            </a:r>
          </a:p>
        </p:txBody>
      </p:sp>
    </p:spTree>
    <p:extLst>
      <p:ext uri="{BB962C8B-B14F-4D97-AF65-F5344CB8AC3E}">
        <p14:creationId xmlns:p14="http://schemas.microsoft.com/office/powerpoint/2010/main" val="5273771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2026-05-01T05:54:47.5260000Z</dcterms:created>
  <dcterms:modified xsi:type="dcterms:W3CDTF">2026-05-01T05:54:47.5260000Z</dcterms:modified>
</coreProperties>
</file>
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94560"/>
            <a:ext cx="1219169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0" b="1" i="0">
                <a:solidFill>
                  <a:srgbClr val="1A1A1A"/>
                </a:solidFill>
                <a:latin typeface="Georgia"/>
              </a:rPr>
              <a:t>2 + 2 =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463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C4422E"/>
                </a:solidFill>
                <a:latin typeface="Inter"/>
              </a:rPr>
              <a:t>ALU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492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6B6B6B"/>
                </a:solidFill>
                <a:latin typeface="Inter"/>
              </a:rPr>
              <a:t>(arithmetic logic unit)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ALU +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 i="0">
                <a:solidFill>
                  <a:srgbClr val="1A1A1A"/>
                </a:solidFill>
                <a:latin typeface="Georgia"/>
              </a:rPr>
              <a:t>(5 + 3)  ×  (7 + 2)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743200"/>
            <a:ext cx="2743200" cy="2560320"/>
          </a:xfrm>
          <a:prstGeom prst="roundRect">
            <a:avLst/>
          </a:prstGeom>
          <a:solidFill>
            <a:srgbClr val="E6E2D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2926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B6B6B"/>
                </a:solidFill>
                <a:latin typeface="Inter"/>
              </a:rPr>
              <a:t>calculator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3566160"/>
            <a:ext cx="914400" cy="548640"/>
          </a:xfrm>
          <a:prstGeom prst="roundRect">
            <a:avLst/>
          </a:prstGeom>
          <a:solidFill>
            <a:srgbClr val="C4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35661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M+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566160"/>
            <a:ext cx="914400" cy="548640"/>
          </a:xfrm>
          <a:prstGeom prst="roundRect">
            <a:avLst/>
          </a:prstGeom>
          <a:solidFill>
            <a:srgbClr val="C4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35661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MR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4389120"/>
            <a:ext cx="2194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43891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onsolas"/>
              </a:rPr>
              <a:t>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94960" y="4023360"/>
            <a:ext cx="2286000" cy="1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94960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6B6B6B"/>
                </a:solidFill>
                <a:latin typeface="Inter"/>
              </a:rPr>
              <a:t>stash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3474720"/>
            <a:ext cx="2011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35661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B6B6B"/>
                </a:solidFill>
                <a:latin typeface="Inter"/>
              </a:rPr>
              <a:t>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9319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1A1A1A"/>
                </a:solidFill>
                <a:latin typeface="Consolas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6B6B"/>
                </a:solidFill>
                <a:latin typeface="Inter"/>
              </a:rPr>
              <a:t>stash an intermediate, recall it later — already half a CPU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WHAT MAKES A CPU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2194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Inter"/>
              </a:rPr>
              <a:t>Program</a:t>
            </a:r>
          </a:p>
          <a:p>
            <a:pPr algn="ctr"/>
            <a:r>
              <a:rPr sz="2200" b="1" i="0">
                <a:solidFill>
                  <a:srgbClr val="1A1A1A"/>
                </a:solidFill>
                <a:latin typeface="Inter"/>
              </a:rPr>
              <a:t>memory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28800"/>
            <a:ext cx="2194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82880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Inter"/>
              </a:rPr>
              <a:t>Program</a:t>
            </a:r>
          </a:p>
          <a:p>
            <a:pPr algn="ctr"/>
            <a:r>
              <a:rPr sz="2200" b="1" i="0">
                <a:solidFill>
                  <a:srgbClr val="1A1A1A"/>
                </a:solidFill>
                <a:latin typeface="Inter"/>
              </a:rPr>
              <a:t>counter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828800"/>
            <a:ext cx="2194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82880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Inter"/>
              </a:rPr>
              <a:t>Decoder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828800"/>
            <a:ext cx="2194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82880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Inter"/>
              </a:rPr>
              <a:t>Clock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023360"/>
            <a:ext cx="2194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402336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Inter"/>
              </a:rPr>
              <a:t>ALU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4023360"/>
            <a:ext cx="2194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402336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Inter"/>
              </a:rPr>
              <a:t>RAM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2468880"/>
            <a:ext cx="365760" cy="1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77840" y="2468880"/>
            <a:ext cx="365760" cy="1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029200" y="3108960"/>
            <a:ext cx="2011680" cy="91440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77840" y="4663440"/>
            <a:ext cx="365760" cy="1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577840" y="2468880"/>
            <a:ext cx="2926080" cy="1"/>
          </a:xfrm>
          <a:prstGeom prst="line">
            <a:avLst/>
          </a:prstGeom>
          <a:ln w="25400">
            <a:solidFill>
              <a:srgbClr val="C44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5852160"/>
            <a:ext cx="11064240" cy="640080"/>
          </a:xfrm>
          <a:prstGeom prst="roundRect">
            <a:avLst/>
          </a:prstGeom>
          <a:solidFill>
            <a:srgbClr val="C4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Inter"/>
              </a:rPr>
              <a:t>fetch  →  decode  →  execute  →  advance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THE VON NEUMANN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5943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B6B6B"/>
                </a:solidFill>
                <a:latin typeface="Inter"/>
              </a:rPr>
              <a:t>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2560320"/>
            <a:ext cx="5394960" cy="1005840"/>
          </a:xfrm>
          <a:prstGeom prst="rect">
            <a:avLst/>
          </a:prstGeom>
          <a:solidFill>
            <a:srgbClr val="FFE89C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56032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Inter"/>
              </a:rPr>
              <a:t>program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3749040"/>
            <a:ext cx="5394960" cy="10058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74904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Inter"/>
              </a:rPr>
              <a:t>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926080"/>
            <a:ext cx="2560320" cy="1280160"/>
          </a:xfrm>
          <a:prstGeom prst="roundRect">
            <a:avLst/>
          </a:prstGeom>
          <a:solidFill>
            <a:srgbClr val="C4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2926080"/>
            <a:ext cx="25603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Inter"/>
              </a:rPr>
              <a:t>CPU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0" y="3063240"/>
            <a:ext cx="1645920" cy="228600"/>
          </a:xfrm>
          <a:prstGeom prst="line">
            <a:avLst/>
          </a:prstGeom>
          <a:ln w="31750">
            <a:solidFill>
              <a:srgbClr val="C44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0" y="24688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Inter"/>
              </a:rPr>
              <a:t>reads its own instructions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040880" y="3840480"/>
            <a:ext cx="1645920" cy="41148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6B6B"/>
                </a:solidFill>
                <a:latin typeface="Inter"/>
              </a:rPr>
              <a:t>one memory.  programs and data both live there.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TODAY: EVERY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280160"/>
            <a:ext cx="6400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0" y="128016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onsolas"/>
              </a:rPr>
              <a:t>caesar.thcc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28016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 i="1">
                <a:solidFill>
                  <a:srgbClr val="6B6B6B"/>
                </a:solidFill>
                <a:latin typeface="Inter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0116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Inter"/>
              </a:rPr>
              <a:t>parse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26480.0" y="2057400"/>
            <a:ext cx="1.0" cy="18288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2240280"/>
            <a:ext cx="6400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4028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onsolas"/>
              </a:rPr>
              <a:t>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 i="1">
                <a:solidFill>
                  <a:srgbClr val="6B6B6B"/>
                </a:solidFill>
                <a:latin typeface="Inter"/>
              </a:rPr>
              <a:t>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971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Inter"/>
              </a:rPr>
              <a:t>codegen + link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0.0" y="3017520"/>
            <a:ext cx="1.0" cy="18288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26080" y="3200400"/>
            <a:ext cx="6400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320040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onsolas"/>
              </a:rPr>
              <a:t>.asm  /  .hex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 i="1">
                <a:solidFill>
                  <a:srgbClr val="6B6B6B"/>
                </a:solidFill>
                <a:latin typeface="Inter"/>
              </a:rPr>
              <a:t>machine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931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Inter"/>
              </a:rPr>
              <a:t>load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0.0" y="3977640"/>
            <a:ext cx="1.0" cy="18288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26080" y="4160520"/>
            <a:ext cx="6400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41605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onsolas"/>
              </a:rPr>
              <a:t>THMM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16052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 i="1">
                <a:solidFill>
                  <a:srgbClr val="6B6B6B"/>
                </a:solidFill>
                <a:latin typeface="Inter"/>
              </a:rPr>
              <a:t>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8920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Inter"/>
              </a:rPr>
              <a:t>run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0.0" y="4937760"/>
            <a:ext cx="1.0" cy="18288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926080" y="5120640"/>
            <a:ext cx="6400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512064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onsolas"/>
              </a:rPr>
              <a:t>RAM cells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12064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 i="1">
                <a:solidFill>
                  <a:srgbClr val="6B6B6B"/>
                </a:solidFill>
                <a:latin typeface="Inter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6B6B"/>
                </a:solidFill>
                <a:latin typeface="Inter"/>
              </a:rPr>
              <a:t>human-readable code  ↓  electrons (well, simulated)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6B6B6B"/>
                </a:solidFill>
                <a:latin typeface="Inter"/>
              </a:rPr>
              <a:t>BY THE END,  THIS CPU WILL READ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0" b="1" i="0">
                <a:solidFill>
                  <a:srgbClr val="FFE89C"/>
                </a:solidFill>
                <a:latin typeface="Consolas"/>
              </a:rPr>
              <a:t>JCJUM JS DCAFE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5120640"/>
            <a:ext cx="822960" cy="502920"/>
          </a:xfrm>
          <a:prstGeom prst="roundRect">
            <a:avLst/>
          </a:prstGeom>
          <a:noFill/>
          <a:ln w="50800">
            <a:solidFill>
              <a:srgbClr val="C44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547207" y="5532120"/>
            <a:ext cx="1097280" cy="777240"/>
          </a:xfrm>
          <a:prstGeom prst="roundRect">
            <a:avLst/>
          </a:prstGeom>
          <a:solidFill>
            <a:srgbClr val="C4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MEET THMM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6B6B6B"/>
                </a:solidFill>
                <a:latin typeface="Inter"/>
              </a:rPr>
              <a:t>THMM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286000"/>
            <a:ext cx="1828800" cy="914400"/>
          </a:xfrm>
          <a:prstGeom prst="roundRect">
            <a:avLst/>
          </a:prstGeom>
          <a:solidFill>
            <a:srgbClr val="C4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nter"/>
              </a:rPr>
              <a:t>ACC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286000"/>
            <a:ext cx="1828800" cy="914400"/>
          </a:xfrm>
          <a:prstGeom prst="roundRect">
            <a:avLst/>
          </a:prstGeom>
          <a:solidFill>
            <a:srgbClr val="E6E2D8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Inter"/>
              </a:rPr>
              <a:t>ALU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365760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6576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B6B6B"/>
                </a:solidFill>
                <a:latin typeface="Inter"/>
              </a:rPr>
              <a:t>RAM[256]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4114800"/>
            <a:ext cx="210312" cy="7772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13332" y="4114800"/>
            <a:ext cx="210312" cy="7772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46504" y="4114800"/>
            <a:ext cx="210312" cy="7772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79676" y="4114800"/>
            <a:ext cx="210312" cy="7772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2848" y="4114800"/>
            <a:ext cx="210312" cy="7772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46020" y="4114800"/>
            <a:ext cx="210312" cy="7772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79192" y="4114800"/>
            <a:ext cx="210312" cy="7772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12364" y="4114800"/>
            <a:ext cx="210312" cy="7772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45536" y="4114800"/>
            <a:ext cx="210312" cy="7772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78708" y="4114800"/>
            <a:ext cx="210312" cy="7772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11880" y="4114800"/>
            <a:ext cx="210312" cy="7772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5052" y="4114800"/>
            <a:ext cx="210312" cy="7772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78224" y="4114800"/>
            <a:ext cx="210312" cy="7772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11396" y="4114800"/>
            <a:ext cx="210312" cy="7772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44568" y="4114800"/>
            <a:ext cx="210312" cy="7772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77740" y="4114800"/>
            <a:ext cx="210312" cy="77724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6B6B6B"/>
                </a:solidFill>
                <a:latin typeface="Inter"/>
              </a:rPr>
              <a:t>9 instructions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9202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loadm  addr     load mem → acc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30428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loadn  imm      load literal → acc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688336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store  addr     acc → mem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07238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addm   addr     acc += mem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45643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addn   imm      acc += literal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404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subm   addr     acc -= mem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22452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mulm   addr     acc *= mem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608576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divm   addr     acc /= mem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99262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halt            stop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52160"/>
            <a:ext cx="11064240" cy="640080"/>
          </a:xfrm>
          <a:prstGeom prst="roundRect">
            <a:avLst/>
          </a:prstGeom>
          <a:solidFill>
            <a:srgbClr val="C4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nter"/>
              </a:rPr>
              <a:t>16-bit  ·  256 cells  ·  9 instructions  ·  ~200 lines of Python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THE EASY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1A1A1A"/>
                </a:solidFill>
                <a:latin typeface="Georgia"/>
              </a:rPr>
              <a:t>c  =  a + 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.5" y="2011680"/>
            <a:ext cx="1.0" cy="457200"/>
          </a:xfrm>
          <a:prstGeom prst="line">
            <a:avLst/>
          </a:prstGeom>
          <a:ln w="381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286000" y="2743200"/>
            <a:ext cx="4114800" cy="2103120"/>
          </a:xfrm>
          <a:prstGeom prst="rect">
            <a:avLst/>
          </a:prstGeom>
          <a:solidFill>
            <a:srgbClr val="F1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2852928"/>
            <a:ext cx="3785616" cy="1883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>
                <a:solidFill>
                  <a:srgbClr val="1A1A1A"/>
                </a:solidFill>
                <a:latin typeface="Consolas"/>
              </a:rPr>
              <a:t>loadm  a</a:t>
            </a:r>
          </a:p>
          <a:p>
            <a:pPr algn="l"/>
            <a:r>
              <a:rPr sz="3200">
                <a:solidFill>
                  <a:srgbClr val="1A1A1A"/>
                </a:solidFill>
                <a:latin typeface="Consolas"/>
              </a:rPr>
              <a:t>addm   b</a:t>
            </a:r>
          </a:p>
          <a:p>
            <a:pPr algn="l"/>
            <a:r>
              <a:rPr sz="3200">
                <a:solidFill>
                  <a:srgbClr val="1A1A1A"/>
                </a:solidFill>
                <a:latin typeface="Consolas"/>
              </a:rPr>
              <a:t>store 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4688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B6B6B"/>
                </a:solidFill>
                <a:latin typeface="Inter"/>
              </a:rPr>
              <a:t>accumulator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926080"/>
            <a:ext cx="10972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9260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Consolas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6118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Inter"/>
              </a:rPr>
              <a:t>start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03920" y="3246120"/>
            <a:ext cx="274320" cy="1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778240" y="2926080"/>
            <a:ext cx="10972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9260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Consola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6118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Inter"/>
              </a:rPr>
              <a:t>loadm 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966960" y="3246120"/>
            <a:ext cx="274320" cy="1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241280" y="2926080"/>
            <a:ext cx="10972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29260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Consolas"/>
              </a:rPr>
              <a:t>a+b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36118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Inter"/>
              </a:rPr>
              <a:t>addm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6B6B"/>
                </a:solidFill>
                <a:latin typeface="Inter"/>
              </a:rPr>
              <a:t>every expression's code leaves its value in the accumulator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THE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1A1A1A"/>
                </a:solidFill>
                <a:latin typeface="Georgia"/>
              </a:rPr>
              <a:t>(a + b)  ×  (c + d)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103120"/>
            <a:ext cx="4846320" cy="3474720"/>
          </a:xfrm>
          <a:prstGeom prst="rect">
            <a:avLst/>
          </a:prstGeom>
          <a:solidFill>
            <a:srgbClr val="F1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93392" y="2212848"/>
            <a:ext cx="4517136" cy="3255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>
                <a:solidFill>
                  <a:srgbClr val="1A1A1A"/>
                </a:solidFill>
                <a:latin typeface="Consolas"/>
              </a:rPr>
              <a:t>loadm  a</a:t>
            </a:r>
          </a:p>
          <a:p>
            <a:pPr algn="l"/>
            <a:r>
              <a:rPr sz="2200">
                <a:solidFill>
                  <a:srgbClr val="1A1A1A"/>
                </a:solidFill>
                <a:latin typeface="Consolas"/>
              </a:rPr>
              <a:t>addm   b</a:t>
            </a:r>
          </a:p>
          <a:p>
            <a:pPr algn="l"/>
            <a:r>
              <a:rPr sz="2200" b="1">
                <a:solidFill>
                  <a:srgbClr val="C4422E"/>
                </a:solidFill>
                <a:latin typeface="Consolas"/>
              </a:rPr>
              <a:t>store  t0     ← stash</a:t>
            </a:r>
          </a:p>
          <a:p>
            <a:pPr algn="l"/>
            <a:r>
              <a:rPr sz="2200">
                <a:solidFill>
                  <a:srgbClr val="1A1A1A"/>
                </a:solidFill>
                <a:latin typeface="Consolas"/>
              </a:rPr>
              <a:t>loadm  c</a:t>
            </a:r>
          </a:p>
          <a:p>
            <a:pPr algn="l"/>
            <a:r>
              <a:rPr sz="2200">
                <a:solidFill>
                  <a:srgbClr val="1A1A1A"/>
                </a:solidFill>
                <a:latin typeface="Consolas"/>
              </a:rPr>
              <a:t>addm   d</a:t>
            </a:r>
          </a:p>
          <a:p>
            <a:pPr algn="l"/>
            <a:r>
              <a:rPr sz="2200" b="1">
                <a:solidFill>
                  <a:srgbClr val="C4422E"/>
                </a:solidFill>
                <a:latin typeface="Consolas"/>
              </a:rPr>
              <a:t>store  t1     ← stash</a:t>
            </a:r>
          </a:p>
          <a:p>
            <a:pPr algn="l"/>
            <a:r>
              <a:rPr sz="2200" b="1">
                <a:solidFill>
                  <a:srgbClr val="C4422E"/>
                </a:solidFill>
                <a:latin typeface="Consolas"/>
              </a:rPr>
              <a:t>loadm  t0     ← reload</a:t>
            </a:r>
          </a:p>
          <a:p>
            <a:pPr algn="l"/>
            <a:r>
              <a:rPr sz="2200">
                <a:solidFill>
                  <a:srgbClr val="1A1A1A"/>
                </a:solidFill>
                <a:latin typeface="Consolas"/>
              </a:rPr>
              <a:t>mulm   t1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286000"/>
            <a:ext cx="1371600" cy="640080"/>
          </a:xfrm>
          <a:prstGeom prst="rect">
            <a:avLst/>
          </a:prstGeom>
          <a:solidFill>
            <a:srgbClr val="E6E2D8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22860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Consolas"/>
              </a:rPr>
              <a:t>acc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59" y="22860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a+b → ... → 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3200400"/>
            <a:ext cx="1371600" cy="640080"/>
          </a:xfrm>
          <a:prstGeom prst="rect">
            <a:avLst/>
          </a:prstGeom>
          <a:solidFill>
            <a:srgbClr val="FFE89C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32004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Consolas"/>
              </a:rPr>
              <a:t>t0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59" y="32004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a +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4114800"/>
            <a:ext cx="1371600" cy="640080"/>
          </a:xfrm>
          <a:prstGeom prst="rect">
            <a:avLst/>
          </a:prstGeom>
          <a:solidFill>
            <a:srgbClr val="FFE89C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41148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Consolas"/>
              </a:rPr>
              <a:t>t1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41148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c +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C4422E"/>
                </a:solidFill>
                <a:latin typeface="Inter"/>
              </a:rPr>
              <a:t>now imagine 80 of these   —   by hand   —   without bugs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A REAL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7589520" cy="3200400"/>
          </a:xfrm>
          <a:prstGeom prst="rect">
            <a:avLst/>
          </a:prstGeom>
          <a:solidFill>
            <a:srgbClr val="F1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50592" y="1938528"/>
            <a:ext cx="7260336" cy="2980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>
                <a:solidFill>
                  <a:srgbClr val="1A1A1A"/>
                </a:solidFill>
                <a:latin typeface="Consolas"/>
              </a:rPr>
              <a:t>// 3-4-5 right triangle. Expected: hyp_sq = 25.</a:t>
            </a:r>
          </a:p>
          <a:p>
            <a:pPr algn="l"/>
            <a:r>
              <a:rPr sz="3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3200">
                <a:solidFill>
                  <a:srgbClr val="1A1A1A"/>
                </a:solidFill>
                <a:latin typeface="Consolas"/>
              </a:rPr>
              <a:t>int a = 4;</a:t>
            </a:r>
          </a:p>
          <a:p>
            <a:pPr algn="l"/>
            <a:r>
              <a:rPr sz="3200">
                <a:solidFill>
                  <a:srgbClr val="1A1A1A"/>
                </a:solidFill>
                <a:latin typeface="Consolas"/>
              </a:rPr>
              <a:t>int b = 3;</a:t>
            </a:r>
          </a:p>
          <a:p>
            <a:pPr algn="l"/>
            <a:r>
              <a:rPr sz="3200">
                <a:solidFill>
                  <a:srgbClr val="1A1A1A"/>
                </a:solidFill>
                <a:latin typeface="Consolas"/>
              </a:rPr>
              <a:t>int hyp_sq = a * a + b * b;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0" y="2651760"/>
            <a:ext cx="1828800" cy="1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9601200" y="1280160"/>
            <a:ext cx="1828800" cy="137160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01200" y="1280160"/>
            <a:ext cx="1" cy="137160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326880" y="1828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Inter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2743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Inter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17373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4422E"/>
                </a:solidFill>
                <a:latin typeface="Georgia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6B6B"/>
                </a:solidFill>
                <a:latin typeface="Inter"/>
              </a:rPr>
              <a:t>three lines.  compile, run, read RAM[16].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WHAT WE GOT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0" y="4114800"/>
            <a:ext cx="1645920" cy="1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5120640" y="2880360"/>
            <a:ext cx="1" cy="123444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5120640" y="2880360"/>
            <a:ext cx="1645920" cy="1234440"/>
          </a:xfrm>
          <a:prstGeom prst="line">
            <a:avLst/>
          </a:prstGeom>
          <a:ln w="50800">
            <a:solidFill>
              <a:srgbClr val="C44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120640" y="4114800"/>
            <a:ext cx="1645920" cy="1645920"/>
          </a:xfrm>
          <a:prstGeom prst="rect">
            <a:avLst/>
          </a:prstGeom>
          <a:solidFill>
            <a:srgbClr val="E6E2D8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4114800"/>
            <a:ext cx="16459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6B6B6B"/>
                </a:solidFill>
                <a:latin typeface="Georgia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2880360"/>
            <a:ext cx="1234440" cy="1234440"/>
          </a:xfrm>
          <a:prstGeom prst="rect">
            <a:avLst/>
          </a:prstGeom>
          <a:solidFill>
            <a:srgbClr val="E6E2D8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2880360"/>
            <a:ext cx="12344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6B6B6B"/>
                </a:solidFill>
                <a:latin typeface="Georgia"/>
              </a:rPr>
              <a:t>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463040"/>
            <a:ext cx="2286000" cy="2286000"/>
          </a:xfrm>
          <a:prstGeom prst="rect">
            <a:avLst/>
          </a:prstGeom>
          <a:solidFill>
            <a:srgbClr val="FFE89C"/>
          </a:solidFill>
          <a:ln w="38100">
            <a:solidFill>
              <a:srgbClr val="C44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46304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0" b="1" i="0">
                <a:solidFill>
                  <a:srgbClr val="C4422E"/>
                </a:solidFill>
                <a:latin typeface="Georgia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8404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6B6B6B"/>
                </a:solidFill>
                <a:latin typeface="Inter"/>
              </a:rPr>
              <a:t>the square on the hypotenuse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766560" y="2606040.0"/>
            <a:ext cx="1097280" cy="891540.0"/>
          </a:xfrm>
          <a:prstGeom prst="line">
            <a:avLst/>
          </a:prstGeom>
          <a:ln w="25400">
            <a:solidFill>
              <a:srgbClr val="C44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1828800"/>
            <a:ext cx="292608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44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945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6B6B6B"/>
                </a:solidFill>
                <a:latin typeface="Consolas"/>
              </a:rPr>
              <a:t>sqrt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40" y="2103120"/>
            <a:ext cx="2377440" cy="1097280"/>
          </a:xfrm>
          <a:prstGeom prst="line">
            <a:avLst/>
          </a:prstGeom>
          <a:ln w="101600">
            <a:solidFill>
              <a:srgbClr val="C44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05840" y="2103120"/>
            <a:ext cx="2377440" cy="1097280"/>
          </a:xfrm>
          <a:prstGeom prst="line">
            <a:avLst/>
          </a:prstGeom>
          <a:ln w="101600">
            <a:solidFill>
              <a:srgbClr val="C44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35661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6B6B6B"/>
                </a:solidFill>
                <a:latin typeface="Inter"/>
              </a:rPr>
              <a:t>not in the instruction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6B6B"/>
                </a:solidFill>
                <a:latin typeface="Inter"/>
              </a:rPr>
              <a:t>we can compute the area.   the side is not our problem.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STEP 1   ·   PARSE  → 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8872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A1A1A"/>
                </a:solidFill>
                <a:latin typeface="Consolas"/>
              </a:rPr>
              <a:t>int hyp_sq  =  a * a + b * b ;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.5" y="2103120"/>
            <a:ext cx="1.0" cy="457200"/>
          </a:xfrm>
          <a:prstGeom prst="line">
            <a:avLst/>
          </a:prstGeom>
          <a:ln w="381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38647" y="2743200"/>
            <a:ext cx="914400" cy="640080"/>
          </a:xfrm>
          <a:prstGeom prst="roundRect">
            <a:avLst/>
          </a:prstGeom>
          <a:solidFill>
            <a:srgbClr val="FFE89C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8647" y="27432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1207" y="3931920"/>
            <a:ext cx="914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1207" y="39319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6087" y="3931920"/>
            <a:ext cx="914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6087" y="39319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46807" y="5120640"/>
            <a:ext cx="914400" cy="640080"/>
          </a:xfrm>
          <a:prstGeom prst="roundRect">
            <a:avLst/>
          </a:prstGeom>
          <a:solidFill>
            <a:srgbClr val="E6E2D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46807" y="51206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75607" y="5120640"/>
            <a:ext cx="914400" cy="640080"/>
          </a:xfrm>
          <a:prstGeom prst="roundRect">
            <a:avLst/>
          </a:prstGeom>
          <a:solidFill>
            <a:srgbClr val="E6E2D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5607" y="51206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01687" y="5120640"/>
            <a:ext cx="914400" cy="640080"/>
          </a:xfrm>
          <a:prstGeom prst="roundRect">
            <a:avLst/>
          </a:prstGeom>
          <a:solidFill>
            <a:srgbClr val="E6E2D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1687" y="51206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0487" y="5120640"/>
            <a:ext cx="914400" cy="640080"/>
          </a:xfrm>
          <a:prstGeom prst="roundRect">
            <a:avLst/>
          </a:prstGeom>
          <a:solidFill>
            <a:srgbClr val="E6E2D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0487" y="51206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b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718407.5" y="3383280"/>
            <a:ext cx="2377440.0" cy="54864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5847.5" y="3383280"/>
            <a:ext cx="2377440.0" cy="54864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804007.5" y="4572000"/>
            <a:ext cx="914400.0" cy="54864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18407.5" y="4572000"/>
            <a:ext cx="914400.0" cy="54864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558887.5" y="4572000"/>
            <a:ext cx="914400.0" cy="54864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73287.5" y="4572000"/>
            <a:ext cx="914400.0" cy="54864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6B6B"/>
                </a:solidFill>
                <a:latin typeface="Inter"/>
              </a:rPr>
              <a:t>expressions nest, so they're trees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HASKELL  ·  THE ABSTRACT SYNTAX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7589520" cy="3200400"/>
          </a:xfrm>
          <a:prstGeom prst="rect">
            <a:avLst/>
          </a:prstGeom>
          <a:solidFill>
            <a:srgbClr val="F1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50592" y="1938528"/>
            <a:ext cx="7260336" cy="2980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>
                <a:solidFill>
                  <a:srgbClr val="1A1A1A"/>
                </a:solidFill>
                <a:latin typeface="Consolas"/>
              </a:rPr>
              <a:t>data Expr</a:t>
            </a:r>
          </a:p>
          <a:p>
            <a:pPr algn="l"/>
            <a:r>
              <a:rPr sz="2800">
                <a:solidFill>
                  <a:srgbClr val="1A1A1A"/>
                </a:solidFill>
                <a:latin typeface="Consolas"/>
              </a:rPr>
              <a:t>    = Lit   Int</a:t>
            </a:r>
          </a:p>
          <a:p>
            <a:pPr algn="l"/>
            <a:r>
              <a:rPr sz="2800">
                <a:solidFill>
                  <a:srgbClr val="1A1A1A"/>
                </a:solidFill>
                <a:latin typeface="Consolas"/>
              </a:rPr>
              <a:t>    | Var   String</a:t>
            </a:r>
          </a:p>
          <a:p>
            <a:pPr algn="l"/>
            <a:r>
              <a:rPr sz="2800" b="1">
                <a:solidFill>
                  <a:srgbClr val="C4422E"/>
                </a:solidFill>
                <a:latin typeface="Consolas"/>
              </a:rPr>
              <a:t>    | BinOp Op Expr Expr</a:t>
            </a:r>
          </a:p>
          <a:p>
            <a:pPr algn="l"/>
            <a:r>
              <a:rPr sz="28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2800">
                <a:solidFill>
                  <a:srgbClr val="1A1A1A"/>
                </a:solidFill>
                <a:latin typeface="Consolas"/>
              </a:rPr>
              <a:t>data Op = Add | Sub | Mul | Div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6B6B"/>
                </a:solidFill>
                <a:latin typeface="Inter"/>
              </a:rPr>
              <a:t>three lines define the entire expression language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HASKELL  ·  PRECEDENCE IS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194560"/>
            <a:ext cx="9418320" cy="2377440"/>
          </a:xfrm>
          <a:prstGeom prst="rect">
            <a:avLst/>
          </a:prstGeom>
          <a:solidFill>
            <a:srgbClr val="F1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36192" y="2304288"/>
            <a:ext cx="9089136" cy="2157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>
                <a:solidFill>
                  <a:srgbClr val="1A1A1A"/>
                </a:solidFill>
                <a:latin typeface="Consolas"/>
              </a:rPr>
              <a:t>operatorTable =</a:t>
            </a:r>
          </a:p>
          <a:p>
            <a:pPr algn="l"/>
            <a:r>
              <a:rPr sz="2400" b="1">
                <a:solidFill>
                  <a:srgbClr val="C4422E"/>
                </a:solidFill>
                <a:latin typeface="Consolas"/>
              </a:rPr>
              <a:t>    [ [ binaryL "*" Mul, binaryL "/" Div ]   ← binds tighter</a:t>
            </a:r>
          </a:p>
          <a:p>
            <a:pPr algn="l"/>
            <a:r>
              <a:rPr sz="2400" b="1">
                <a:solidFill>
                  <a:srgbClr val="C4422E"/>
                </a:solidFill>
                <a:latin typeface="Consolas"/>
              </a:rPr>
              <a:t>    , [ binaryL "+" Add, binaryL "-" Sub ]   ← binds looser</a:t>
            </a:r>
          </a:p>
          <a:p>
            <a:pPr algn="l"/>
            <a:r>
              <a:rPr sz="2400">
                <a:solidFill>
                  <a:srgbClr val="1A1A1A"/>
                </a:solidFill>
                <a:latin typeface="Consolas"/>
              </a:rPr>
              <a:t>   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6B6B"/>
                </a:solidFill>
                <a:latin typeface="Inter"/>
              </a:rPr>
              <a:t>row order  =  precedence.   grammar as data, not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CODEGEN  ·  EASY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1645920"/>
            <a:ext cx="914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16459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834640"/>
            <a:ext cx="914400" cy="640080"/>
          </a:xfrm>
          <a:prstGeom prst="roundRect">
            <a:avLst/>
          </a:prstGeom>
          <a:solidFill>
            <a:srgbClr val="E6E2D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834640"/>
            <a:ext cx="914400" cy="640080"/>
          </a:xfrm>
          <a:prstGeom prst="roundRect">
            <a:avLst/>
          </a:prstGeom>
          <a:solidFill>
            <a:srgbClr val="E6E2D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8346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a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737360" y="2286000"/>
            <a:ext cx="822960" cy="54864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60320" y="2286000"/>
            <a:ext cx="822960" cy="54864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2377440"/>
            <a:ext cx="822960" cy="1"/>
          </a:xfrm>
          <a:prstGeom prst="line">
            <a:avLst/>
          </a:prstGeom>
          <a:ln w="381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20640" y="1828800"/>
            <a:ext cx="3017520" cy="1371600"/>
          </a:xfrm>
          <a:prstGeom prst="rect">
            <a:avLst/>
          </a:prstGeom>
          <a:solidFill>
            <a:srgbClr val="F1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5232" y="1938528"/>
            <a:ext cx="2688336" cy="1152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>
                <a:solidFill>
                  <a:srgbClr val="1A1A1A"/>
                </a:solidFill>
                <a:latin typeface="Consolas"/>
              </a:rPr>
              <a:t>loadm  a</a:t>
            </a:r>
          </a:p>
          <a:p>
            <a:pPr algn="l"/>
            <a:r>
              <a:rPr sz="3200">
                <a:solidFill>
                  <a:srgbClr val="1A1A1A"/>
                </a:solidFill>
                <a:latin typeface="Consolas"/>
              </a:rPr>
              <a:t>mulm  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463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accumulator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828800"/>
            <a:ext cx="10972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82880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Consolas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14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Inter"/>
              </a:rPr>
              <a:t>start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2926080"/>
            <a:ext cx="10972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29260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Consola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6118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Inter"/>
              </a:rPr>
              <a:t>loadm 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4023360"/>
            <a:ext cx="10972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02336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Consolas"/>
              </a:rPr>
              <a:t>a²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7091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Inter"/>
              </a:rPr>
              <a:t>mulm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6B6B"/>
                </a:solidFill>
                <a:latin typeface="Inter"/>
              </a:rPr>
              <a:t>leaves emit one instruction.   the contract: value lives in the accumulator.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CODEGEN  ·  THE TEMP 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188720"/>
            <a:ext cx="914400" cy="640080"/>
          </a:xfrm>
          <a:prstGeom prst="roundRect">
            <a:avLst/>
          </a:prstGeom>
          <a:solidFill>
            <a:srgbClr val="FFE89C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1887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194560"/>
            <a:ext cx="914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94560"/>
            <a:ext cx="914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914400" cy="640080"/>
          </a:xfrm>
          <a:prstGeom prst="roundRect">
            <a:avLst/>
          </a:prstGeom>
          <a:solidFill>
            <a:srgbClr val="E6E2D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3200400"/>
            <a:ext cx="914400" cy="640080"/>
          </a:xfrm>
          <a:prstGeom prst="roundRect">
            <a:avLst/>
          </a:prstGeom>
          <a:solidFill>
            <a:srgbClr val="E6E2D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32004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3200400"/>
            <a:ext cx="914400" cy="640080"/>
          </a:xfrm>
          <a:prstGeom prst="roundRect">
            <a:avLst/>
          </a:prstGeom>
          <a:solidFill>
            <a:srgbClr val="E6E2D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32004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200400"/>
            <a:ext cx="914400" cy="640080"/>
          </a:xfrm>
          <a:prstGeom prst="roundRect">
            <a:avLst/>
          </a:prstGeom>
          <a:solidFill>
            <a:srgbClr val="E6E2D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32004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b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463040" y="1828800"/>
            <a:ext cx="1280160" cy="36576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43200" y="1828800"/>
            <a:ext cx="1280160" cy="36576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05840" y="2834640"/>
            <a:ext cx="457200" cy="36576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63040" y="2834640"/>
            <a:ext cx="457200" cy="36576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566160" y="2834640"/>
            <a:ext cx="457200" cy="36576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23360" y="2834640"/>
            <a:ext cx="457200" cy="36576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486400" y="1463040"/>
            <a:ext cx="4114800" cy="4206240"/>
          </a:xfrm>
          <a:prstGeom prst="rect">
            <a:avLst/>
          </a:prstGeom>
          <a:solidFill>
            <a:srgbClr val="F1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50992" y="1572768"/>
            <a:ext cx="3785616" cy="3986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1A1A1A"/>
                </a:solidFill>
                <a:latin typeface="Consolas"/>
              </a:rPr>
              <a:t>loadm  a</a:t>
            </a:r>
          </a:p>
          <a:p>
            <a:pPr algn="l"/>
            <a:r>
              <a:rPr sz="2000">
                <a:solidFill>
                  <a:srgbClr val="1A1A1A"/>
                </a:solidFill>
                <a:latin typeface="Consolas"/>
              </a:rPr>
              <a:t>mulm   a</a:t>
            </a:r>
          </a:p>
          <a:p>
            <a:pPr algn="l"/>
            <a:r>
              <a:rPr sz="2000" b="1">
                <a:solidFill>
                  <a:srgbClr val="C4422E"/>
                </a:solidFill>
                <a:latin typeface="Consolas"/>
              </a:rPr>
              <a:t>store  t0     ← stash a²</a:t>
            </a:r>
          </a:p>
          <a:p>
            <a:pPr algn="l"/>
            <a:r>
              <a:rPr sz="2000">
                <a:solidFill>
                  <a:srgbClr val="1A1A1A"/>
                </a:solidFill>
                <a:latin typeface="Consolas"/>
              </a:rPr>
              <a:t>loadm  b</a:t>
            </a:r>
          </a:p>
          <a:p>
            <a:pPr algn="l"/>
            <a:r>
              <a:rPr sz="2000">
                <a:solidFill>
                  <a:srgbClr val="1A1A1A"/>
                </a:solidFill>
                <a:latin typeface="Consolas"/>
              </a:rPr>
              <a:t>mulm   b</a:t>
            </a:r>
          </a:p>
          <a:p>
            <a:pPr algn="l"/>
            <a:r>
              <a:rPr sz="2000" b="1">
                <a:solidFill>
                  <a:srgbClr val="C4422E"/>
                </a:solidFill>
                <a:latin typeface="Consolas"/>
              </a:rPr>
              <a:t>store  t1     ← stash b²</a:t>
            </a:r>
          </a:p>
          <a:p>
            <a:pPr algn="l"/>
            <a:r>
              <a:rPr sz="2000" b="1">
                <a:solidFill>
                  <a:srgbClr val="C4422E"/>
                </a:solidFill>
                <a:latin typeface="Consolas"/>
              </a:rPr>
              <a:t>loadm  t0     ← reload</a:t>
            </a:r>
          </a:p>
          <a:p>
            <a:pPr algn="l"/>
            <a:r>
              <a:rPr sz="2000">
                <a:solidFill>
                  <a:srgbClr val="1A1A1A"/>
                </a:solidFill>
                <a:latin typeface="Consolas"/>
              </a:rPr>
              <a:t>addm   t1</a:t>
            </a:r>
          </a:p>
          <a:p>
            <a:pPr algn="l"/>
            <a:r>
              <a:rPr sz="2000">
                <a:solidFill>
                  <a:srgbClr val="1A1A1A"/>
                </a:solidFill>
                <a:latin typeface="Consolas"/>
              </a:rPr>
              <a:t>store  hyp_sq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1828800"/>
            <a:ext cx="1371600" cy="640080"/>
          </a:xfrm>
          <a:prstGeom prst="roundRect">
            <a:avLst/>
          </a:prstGeom>
          <a:solidFill>
            <a:srgbClr val="C4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18288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acc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2743200"/>
            <a:ext cx="1371600" cy="640080"/>
          </a:xfrm>
          <a:prstGeom prst="rect">
            <a:avLst/>
          </a:prstGeom>
          <a:solidFill>
            <a:srgbClr val="FFE89C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27432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Consolas"/>
              </a:rPr>
              <a:t>t0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3657600"/>
            <a:ext cx="1371600" cy="640080"/>
          </a:xfrm>
          <a:prstGeom prst="rect">
            <a:avLst/>
          </a:prstGeom>
          <a:solidFill>
            <a:srgbClr val="FFE89C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36576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Consolas"/>
              </a:rPr>
              <a:t>t1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6B6B"/>
                </a:solidFill>
                <a:latin typeface="Inter"/>
              </a:rPr>
              <a:t>stash the left, compute the right, recombine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HASKELL  ·  THE CODEGEN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377440"/>
            <a:ext cx="11064240" cy="2194560"/>
          </a:xfrm>
          <a:prstGeom prst="rect">
            <a:avLst/>
          </a:prstGeom>
          <a:solidFill>
            <a:srgbClr val="F1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487168"/>
            <a:ext cx="10735056" cy="1975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>
                <a:solidFill>
                  <a:srgbClr val="1A1A1A"/>
                </a:solidFill>
                <a:latin typeface="Consolas"/>
              </a:rPr>
              <a:t>genExpr _    (Lit n)        = ...   -- emit loadn</a:t>
            </a:r>
          </a:p>
          <a:p>
            <a:pPr algn="l"/>
            <a:r>
              <a:rPr sz="2200">
                <a:solidFill>
                  <a:srgbClr val="1A1A1A"/>
                </a:solidFill>
                <a:latin typeface="Consolas"/>
              </a:rPr>
              <a:t>genExpr vars (Var x)        = ...   -- emit loadm</a:t>
            </a:r>
          </a:p>
          <a:p>
            <a:pPr algn="l"/>
            <a:r>
              <a:rPr sz="2200">
                <a:solidFill>
                  <a:srgbClr val="1A1A1A"/>
                </a:solidFill>
                <a:latin typeface="Consolas"/>
              </a:rPr>
              <a:t>genExpr vars (BinOp op l r) = ...   -- recurse: l, then r, combine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6B6B"/>
                </a:solidFill>
                <a:latin typeface="Inter"/>
              </a:rPr>
              <a:t>pattern-matches on tree shape.   leaves emit; branches recurse.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STEP 3   ·   LINK  ·  NAMES → ADDRESSES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B6B6B"/>
                </a:solidFill>
                <a:latin typeface="Inter"/>
              </a:rPr>
              <a:t>before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3657600" cy="4023360"/>
          </a:xfrm>
          <a:prstGeom prst="rect">
            <a:avLst/>
          </a:prstGeom>
          <a:solidFill>
            <a:srgbClr val="F1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755648"/>
            <a:ext cx="3328416" cy="3803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loadm  a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mulm   a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store  t0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loadm  b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mulm   b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store  t1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loadm  t0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addm   t1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store  hyp_sq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halt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37760" y="3657600"/>
            <a:ext cx="548640" cy="1"/>
          </a:xfrm>
          <a:prstGeom prst="line">
            <a:avLst/>
          </a:prstGeom>
          <a:ln w="38100">
            <a:solidFill>
              <a:srgbClr val="C44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0" y="1280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B6B6B"/>
                </a:solidFill>
                <a:latin typeface="Inter"/>
              </a:rPr>
              <a:t>after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645920"/>
            <a:ext cx="3657600" cy="4023360"/>
          </a:xfrm>
          <a:prstGeom prst="rect">
            <a:avLst/>
          </a:prstGeom>
          <a:solidFill>
            <a:srgbClr val="F1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33872" y="1755648"/>
            <a:ext cx="3328416" cy="3803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 4: loadm  14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 5: mulm   14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 6: store  17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 7: loadm  15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 8: mulm   15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 9: store  18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10: loadm  17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11: addm   18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12: store  16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13: halt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280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address 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645920"/>
            <a:ext cx="2286000" cy="2011680"/>
          </a:xfrm>
          <a:prstGeom prst="rect">
            <a:avLst/>
          </a:prstGeom>
          <a:solidFill>
            <a:srgbClr val="E6E2D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17373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17373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B6B6B"/>
                </a:solidFill>
                <a:latin typeface="Consola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17373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4422E"/>
                </a:solidFill>
                <a:latin typeface="Consolas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1031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2103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B6B6B"/>
                </a:solidFill>
                <a:latin typeface="Consola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21031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4422E"/>
                </a:solidFill>
                <a:latin typeface="Consolas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4688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hyp_sq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2468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B6B6B"/>
                </a:solidFill>
                <a:latin typeface="Consola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24688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4422E"/>
                </a:solidFill>
                <a:latin typeface="Consolas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8346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t0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2834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B6B6B"/>
                </a:solidFill>
                <a:latin typeface="Consola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2834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4422E"/>
                </a:solidFill>
                <a:latin typeface="Consolas"/>
              </a:rPr>
              <a:t>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200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nsolas"/>
              </a:rPr>
              <a:t>t1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32004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B6B6B"/>
                </a:solidFill>
                <a:latin typeface="Consola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32004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4422E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SAME PROGRAM.   FOUR WAYS.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912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6B6B"/>
                </a:solidFill>
                <a:latin typeface="Inter"/>
              </a:rPr>
              <a:t>source  (.thcc)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912967" cy="2377440"/>
          </a:xfrm>
          <a:prstGeom prst="rect">
            <a:avLst/>
          </a:prstGeom>
          <a:solidFill>
            <a:srgbClr val="F1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35608"/>
            <a:ext cx="5583783" cy="2157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int a = 4;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int b = 3;</a:t>
            </a:r>
          </a:p>
          <a:p>
            <a:pPr algn="l"/>
            <a:r>
              <a:rPr sz="1800">
                <a:solidFill>
                  <a:srgbClr val="1A1A1A"/>
                </a:solidFill>
                <a:latin typeface="Consolas"/>
              </a:rPr>
              <a:t>int hyp_sq = a * a + b * b;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287" y="1051560"/>
            <a:ext cx="5912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6B6B"/>
                </a:solidFill>
                <a:latin typeface="Inter"/>
              </a:rPr>
              <a:t>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571" y="1463040"/>
            <a:ext cx="914400" cy="640080"/>
          </a:xfrm>
          <a:prstGeom prst="roundRect">
            <a:avLst/>
          </a:prstGeom>
          <a:solidFill>
            <a:srgbClr val="FFE89C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571" y="14630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291" y="2331720"/>
            <a:ext cx="914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291" y="23317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3851" y="2331720"/>
            <a:ext cx="914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3851" y="23317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531" y="3200400"/>
            <a:ext cx="914400" cy="640080"/>
          </a:xfrm>
          <a:prstGeom prst="roundRect">
            <a:avLst/>
          </a:prstGeom>
          <a:solidFill>
            <a:srgbClr val="E6E2D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531" y="32004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051" y="3200400"/>
            <a:ext cx="914400" cy="640080"/>
          </a:xfrm>
          <a:prstGeom prst="roundRect">
            <a:avLst/>
          </a:prstGeom>
          <a:solidFill>
            <a:srgbClr val="E6E2D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051" y="32004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091" y="3200400"/>
            <a:ext cx="914400" cy="640080"/>
          </a:xfrm>
          <a:prstGeom prst="roundRect">
            <a:avLst/>
          </a:prstGeom>
          <a:solidFill>
            <a:srgbClr val="E6E2D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091" y="32004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611" y="3200400"/>
            <a:ext cx="914400" cy="640080"/>
          </a:xfrm>
          <a:prstGeom prst="roundRect">
            <a:avLst/>
          </a:prstGeom>
          <a:solidFill>
            <a:srgbClr val="E6E2D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611" y="32004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onsolas"/>
              </a:rPr>
              <a:t>b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046491.25" y="2103120"/>
            <a:ext cx="1097280.0" cy="22860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3771.25" y="2103120"/>
            <a:ext cx="1097280.0" cy="22860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680731.25" y="2971800"/>
            <a:ext cx="365760.0" cy="22860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46491.25" y="2971800"/>
            <a:ext cx="365760.0" cy="22860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9875291.25" y="2971800"/>
            <a:ext cx="365760.0" cy="22860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241051.25" y="2971800"/>
            <a:ext cx="365760.0" cy="228600"/>
          </a:xfrm>
          <a:prstGeom prst="line">
            <a:avLst/>
          </a:prstGeom>
          <a:ln w="190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3794760"/>
            <a:ext cx="5912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6B6B"/>
                </a:solidFill>
                <a:latin typeface="Inter"/>
              </a:rPr>
              <a:t>assembly  (.asm)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69080"/>
            <a:ext cx="5912967" cy="2468880"/>
          </a:xfrm>
          <a:prstGeom prst="rect">
            <a:avLst/>
          </a:prstGeom>
          <a:solidFill>
            <a:srgbClr val="F1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178808"/>
            <a:ext cx="5583783" cy="22494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0: loadn 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1: store  14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2: loadn  3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3: store  15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4: loadm  14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5: mulm   14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6: store  17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7: loadm  15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8: mulm   15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9: store  18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10: loadm  17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11: addm   18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12: store  16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13: halt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7287" y="3794760"/>
            <a:ext cx="5912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6B6B"/>
                </a:solidFill>
                <a:latin typeface="Inter"/>
              </a:rPr>
              <a:t>machine code  (.hex / .bits)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7287" y="4069080"/>
            <a:ext cx="5912967" cy="2468880"/>
          </a:xfrm>
          <a:prstGeom prst="rect">
            <a:avLst/>
          </a:prstGeom>
          <a:solidFill>
            <a:srgbClr val="F1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1879" y="4178808"/>
            <a:ext cx="5583783" cy="22494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0x3004    0011 0000 0000 0100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0x400E    0100 0000 0000 1110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0x3003    0011 0000 0000 0011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0x400F    0100 0000 0000 1111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0x200E    0010 0000 0000 1110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0xB00E    1011 0000 0000 1110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0x4011    0100 0000 0001 0001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0x200F    0010 0000 0000 1111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0xB00F    1011 0000 0000 1111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0x4012    0100 0000 0001 0010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0x2011    0010 0000 0001 0001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0x7012    0111 0000 0001 0010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0x4010    0100 0000 0001 0000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0x1000    0001 0000 0000 0000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CAESAR CIPHER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93392"/>
            <a:ext cx="164592" cy="164592"/>
          </a:xfrm>
          <a:prstGeom prst="roundRect">
            <a:avLst/>
          </a:prstGeom>
          <a:solidFill>
            <a:srgbClr val="C4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Inter"/>
              </a:rPr>
              <a:t>Used in Roman military dispatches.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Inter"/>
              </a:rPr>
              <a:t>~50 BC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07792"/>
            <a:ext cx="164592" cy="164592"/>
          </a:xfrm>
          <a:prstGeom prst="roundRect">
            <a:avLst/>
          </a:prstGeom>
          <a:solidFill>
            <a:srgbClr val="C4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Inter"/>
              </a:rPr>
              <a:t>Each letter shifted by a fixed key.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Inter"/>
              </a:rPr>
              <a:t>shift 3:  A → D, B → E, C → 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22192"/>
            <a:ext cx="164592" cy="164592"/>
          </a:xfrm>
          <a:prstGeom prst="roundRect">
            <a:avLst/>
          </a:prstGeom>
          <a:solidFill>
            <a:srgbClr val="C4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Inter"/>
              </a:rPr>
              <a:t>Trivially broken by frequency analysis.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Inter"/>
              </a:rPr>
              <a:t>but it's the ancestor of every cipher since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36592"/>
            <a:ext cx="164592" cy="164592"/>
          </a:xfrm>
          <a:prstGeom prst="roundRect">
            <a:avLst/>
          </a:prstGeom>
          <a:solidFill>
            <a:srgbClr val="C4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Inter"/>
              </a:rPr>
              <a:t>ROT13 (shift 13) is still used today.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83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Inter"/>
              </a:rPr>
              <a:t>spoiler tags on the internet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377440"/>
            <a:ext cx="2926080" cy="2926080"/>
          </a:xfrm>
          <a:prstGeom prst="rect">
            <a:avLst/>
          </a:prstGeom>
          <a:solidFill>
            <a:srgbClr val="E6E2D8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3774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Georgia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937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Georgia"/>
              </a:rP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Georgia"/>
              </a:rP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Georgia"/>
              </a:rPr>
              <a:t>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2926080"/>
            <a:ext cx="1828800" cy="1828800"/>
          </a:xfrm>
          <a:prstGeom prst="rect">
            <a:avLst/>
          </a:prstGeom>
          <a:solidFill>
            <a:srgbClr val="C4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3474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8404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Inter"/>
              </a:rPr>
              <a:t>EVERY TIME YOU PRESS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280160"/>
            <a:ext cx="6400800" cy="777240"/>
          </a:xfrm>
          <a:prstGeom prst="roundRect">
            <a:avLst/>
          </a:prstGeom>
          <a:solidFill>
            <a:srgbClr val="C4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0" y="128016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onsolas"/>
              </a:rPr>
              <a:t>caesar.thcc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28016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 i="1">
                <a:solidFill>
                  <a:srgbClr val="FFFFFF"/>
                </a:solidFill>
                <a:latin typeface="Inter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0116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Inter"/>
              </a:rPr>
              <a:t>parse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26480.0" y="2057400"/>
            <a:ext cx="1.0" cy="18288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2240280"/>
            <a:ext cx="6400800" cy="777240"/>
          </a:xfrm>
          <a:prstGeom prst="roundRect">
            <a:avLst/>
          </a:prstGeom>
          <a:solidFill>
            <a:srgbClr val="2E6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4028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onsolas"/>
              </a:rPr>
              <a:t>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 i="1">
                <a:solidFill>
                  <a:srgbClr val="FFFFFF"/>
                </a:solidFill>
                <a:latin typeface="Inter"/>
              </a:rPr>
              <a:t>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971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Inter"/>
              </a:rPr>
              <a:t>codegen + link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0.0" y="3017520"/>
            <a:ext cx="1.0" cy="18288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26080" y="3200400"/>
            <a:ext cx="6400800" cy="777240"/>
          </a:xfrm>
          <a:prstGeom prst="roundRect">
            <a:avLst/>
          </a:prstGeom>
          <a:solidFill>
            <a:srgbClr val="C4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320040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onsolas"/>
              </a:rPr>
              <a:t>.asm  /  .hex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 i="1">
                <a:solidFill>
                  <a:srgbClr val="FFFFFF"/>
                </a:solidFill>
                <a:latin typeface="Inter"/>
              </a:rPr>
              <a:t>machine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931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Inter"/>
              </a:rPr>
              <a:t>load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0.0" y="3977640"/>
            <a:ext cx="1.0" cy="18288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26080" y="4160520"/>
            <a:ext cx="6400800" cy="777240"/>
          </a:xfrm>
          <a:prstGeom prst="roundRect">
            <a:avLst/>
          </a:prstGeom>
          <a:solidFill>
            <a:srgbClr val="2E6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41605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onsolas"/>
              </a:rPr>
              <a:t>THMM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16052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 i="1">
                <a:solidFill>
                  <a:srgbClr val="FFFFFF"/>
                </a:solidFill>
                <a:latin typeface="Inter"/>
              </a:rPr>
              <a:t>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8920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Inter"/>
              </a:rPr>
              <a:t>run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0.0" y="4937760"/>
            <a:ext cx="1.0" cy="18288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926080" y="5120640"/>
            <a:ext cx="6400800" cy="777240"/>
          </a:xfrm>
          <a:prstGeom prst="roundRect">
            <a:avLst/>
          </a:prstGeom>
          <a:solidFill>
            <a:srgbClr val="C4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512064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onsolas"/>
              </a:rPr>
              <a:t>RAM cells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12064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 i="1">
                <a:solidFill>
                  <a:srgbClr val="FFFFFF"/>
                </a:solidFill>
                <a:latin typeface="Inter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6B6B"/>
                </a:solidFill>
                <a:latin typeface="Inter"/>
              </a:rPr>
              <a:t>parse  ·  generate  ·  link  ·  execute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